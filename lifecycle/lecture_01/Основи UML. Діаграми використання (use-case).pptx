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712" r:id="rId4"/>
  </p:sldMasterIdLst>
  <p:notesMasterIdLst>
    <p:notesMasterId r:id="rId24"/>
  </p:notesMasterIdLst>
  <p:sldIdLst>
    <p:sldId id="257" r:id="rId5"/>
    <p:sldId id="261" r:id="rId6"/>
    <p:sldId id="259" r:id="rId7"/>
    <p:sldId id="264" r:id="rId8"/>
    <p:sldId id="265" r:id="rId9"/>
    <p:sldId id="260" r:id="rId10"/>
    <p:sldId id="266" r:id="rId11"/>
    <p:sldId id="267" r:id="rId12"/>
    <p:sldId id="276" r:id="rId13"/>
    <p:sldId id="277" r:id="rId14"/>
    <p:sldId id="278" r:id="rId15"/>
    <p:sldId id="282" r:id="rId16"/>
    <p:sldId id="269" r:id="rId17"/>
    <p:sldId id="279" r:id="rId18"/>
    <p:sldId id="263" r:id="rId19"/>
    <p:sldId id="280" r:id="rId20"/>
    <p:sldId id="262" r:id="rId21"/>
    <p:sldId id="283" r:id="rId22"/>
    <p:sldId id="28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2256" autoAdjust="0"/>
  </p:normalViewPr>
  <p:slideViewPr>
    <p:cSldViewPr snapToGrid="0">
      <p:cViewPr varScale="1">
        <p:scale>
          <a:sx n="94" d="100"/>
          <a:sy n="94" d="100"/>
        </p:scale>
        <p:origin x="117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uk-U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A2BDF8-B98B-4DAD-9DE8-2ADB0615790A}" type="datetimeFigureOut">
              <a:rPr lang="uk-UA" smtClean="0"/>
              <a:t>08.09.2025</a:t>
            </a:fld>
            <a:endParaRPr lang="uk-U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uk-U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uk-U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BC4661-125B-46EB-8EC6-BAD081C7C1BE}" type="slidenum">
              <a:rPr lang="uk-UA" smtClean="0"/>
              <a:t>‹№›</a:t>
            </a:fld>
            <a:endParaRPr lang="uk-UA"/>
          </a:p>
        </p:txBody>
      </p:sp>
    </p:spTree>
    <p:extLst>
      <p:ext uri="{BB962C8B-B14F-4D97-AF65-F5344CB8AC3E}">
        <p14:creationId xmlns:p14="http://schemas.microsoft.com/office/powerpoint/2010/main" val="1342692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dirty="0"/>
              <a:t>У деяких випадках актор може позначатися у вигляді прямокутника класу з ключовим словом "актор" і звичайними складовими елементами класу. Імена акторів повинні записуватися великими літерами і слідувати рекомендаціям використання імен для типів і класів моделі. При цьому символ окремого актора пов'язує відповідне опис актора з конкретним ім'ям. Імена абстрактних акторів, як і інших абстрактних елементів мови </a:t>
            </a:r>
            <a:r>
              <a:rPr lang="en-US" dirty="0"/>
              <a:t>UML, </a:t>
            </a:r>
            <a:r>
              <a:rPr lang="uk-UA" dirty="0"/>
              <a:t>рекомендується позначати курсивом.</a:t>
            </a:r>
          </a:p>
          <a:p>
            <a:endParaRPr lang="uk-UA" dirty="0"/>
          </a:p>
          <a:p>
            <a:r>
              <a:rPr lang="uk-UA" dirty="0"/>
              <a:t>Примітка</a:t>
            </a:r>
          </a:p>
          <a:p>
            <a:endParaRPr lang="uk-UA" dirty="0"/>
          </a:p>
          <a:p>
            <a:r>
              <a:rPr lang="uk-UA" dirty="0"/>
              <a:t>Ім'я актора повинне бути досить інформативним з точки зору семантики. Цілком підходять для цієї мети найменування посад в компанії (наприклад, продавець, касир, менеджер, президент). Не рекомендується давати акторам імена власні (наприклад, «Іванов») або моделей конкретних пристроїв (наприклад, "маршрутизатор </a:t>
            </a:r>
            <a:r>
              <a:rPr lang="en-US" dirty="0"/>
              <a:t>Cisco 3640"), </a:t>
            </a:r>
            <a:r>
              <a:rPr lang="uk-UA" dirty="0"/>
              <a:t>навіть якщо це з очевидністю випливає з контексту проекту. Справа в тому, що одна і та ж сама особа може виступати в кількох ролях і, відповідно, звертатися до різних сервісів системи. Наприклад, відвідувач банку може бути як потенційним клієнтом, і тоді він зажадає один з його сервісів, а може бути і податковим інспектором або слідчим прокуратури. Сервіс для останнього може бути абсолютно винятковим за своїм характером.</a:t>
            </a:r>
          </a:p>
          <a:p>
            <a:endParaRPr lang="uk-UA" dirty="0"/>
          </a:p>
          <a:p>
            <a:r>
              <a:rPr lang="uk-UA" dirty="0"/>
              <a:t>Примітка</a:t>
            </a:r>
          </a:p>
          <a:p>
            <a:endParaRPr lang="uk-UA" dirty="0"/>
          </a:p>
          <a:p>
            <a:r>
              <a:rPr lang="uk-UA" dirty="0"/>
              <a:t>В </a:t>
            </a:r>
            <a:r>
              <a:rPr lang="uk-UA" dirty="0" err="1"/>
              <a:t>метамоделі</a:t>
            </a:r>
            <a:r>
              <a:rPr lang="uk-UA" dirty="0"/>
              <a:t> актор є підкласом класифікатора. Актори можуть взаємодіяти з безліччю варіантів використання і мати безліч інтерфейсів, кожен з яких може представляти особливості взаємодії інших елементів з окремими акторами.</a:t>
            </a:r>
          </a:p>
          <a:p>
            <a:endParaRPr lang="uk-UA" dirty="0"/>
          </a:p>
          <a:p>
            <a:r>
              <a:rPr lang="uk-UA" dirty="0"/>
              <a:t>Актори використовуються для моделювання зовнішніх по відношенню до проектованої системі сутностей, які взаємодіють з системою і використовують її в якості окремих користувачів. В якості акторів можуть виступати інші системи, підсистеми проектованої системи або окремі класи. Важливо розуміти, що кожен актор визначає деякий узгоджене безліч ролей, в яких можуть виступати користувачі даної системи в процесі взаємодії з нею. У кожен момент часу з системою взаємодіє цілком певний користувач, при цьому він грає або виступає в одній з таких ролей. Найбільш наочний приклад актора - конкретний користувач системи зі своїми власними параметрами аутентифікації.</a:t>
            </a:r>
          </a:p>
          <a:p>
            <a:endParaRPr lang="uk-UA" dirty="0"/>
          </a:p>
          <a:p>
            <a:r>
              <a:rPr lang="uk-UA" dirty="0"/>
              <a:t>Будь-яка сутність, яка узгоджується з подібним неформальним визначенням актора, являє собою екземпляр або приклад актора. Для системи, що моделюється акторами можуть бути як суб'єкти-користувачі, так і інші системи. Оскільки користувачі системи завжди є зовнішніми по відношенню до цієї системи, то вони завжди представляються у вигляді акторів.</a:t>
            </a:r>
          </a:p>
          <a:p>
            <a:endParaRPr lang="uk-UA" dirty="0"/>
          </a:p>
          <a:p>
            <a:r>
              <a:rPr lang="uk-UA" dirty="0"/>
              <a:t>Так як в загальному випадку актор завжди знаходиться поза системою, його внутрішня структура ніяк не визначається. Для актора має значення тільки його зовнішнє уявлення, т. Е. Те, як він сприймається з боку системи. Актори взаємодіють з системою за допомогою передачі та прийому повідомлень від варіантів використання. Повідомлення являє собою запит актором сервісу від системи і отримання цього сервісу. Ця взаємодія може бути виражено за допомогою асоціацій між окремими акторами і варіантами використання або класами. Крім цього, з акторами можуть бути пов'язані інтерфейси, які визначають, яким чином інші елементи моделі взаємодіють з цими акторами.</a:t>
            </a:r>
          </a:p>
          <a:p>
            <a:endParaRPr lang="uk-UA" dirty="0"/>
          </a:p>
          <a:p>
            <a:r>
              <a:rPr lang="uk-UA" dirty="0"/>
              <a:t>Два і більш актора можуть мати загальні властивості, тобто Взаємодіяти з одним і тим же безліччю варіантів використання однаковим чином. Така спільність властивостей і поведінки представляється у вигляді розглянутого нижче відносини узагальнення з іншим, можливо, абстрактним актором, який моделює відповідну спільність ролей. Сукупність відносин, які можуть бути присутніми на діаграмі варіантів використання, буде розглянута нижче в цьому розділі.</a:t>
            </a:r>
          </a:p>
        </p:txBody>
      </p:sp>
      <p:sp>
        <p:nvSpPr>
          <p:cNvPr id="4" name="Slide Number Placeholder 3"/>
          <p:cNvSpPr>
            <a:spLocks noGrp="1"/>
          </p:cNvSpPr>
          <p:nvPr>
            <p:ph type="sldNum" sz="quarter" idx="5"/>
          </p:nvPr>
        </p:nvSpPr>
        <p:spPr/>
        <p:txBody>
          <a:bodyPr/>
          <a:lstStyle/>
          <a:p>
            <a:fld id="{B9BC4661-125B-46EB-8EC6-BAD081C7C1BE}" type="slidenum">
              <a:rPr lang="uk-UA" smtClean="0"/>
              <a:t>4</a:t>
            </a:fld>
            <a:endParaRPr lang="uk-UA"/>
          </a:p>
        </p:txBody>
      </p:sp>
    </p:spTree>
    <p:extLst>
      <p:ext uri="{BB962C8B-B14F-4D97-AF65-F5344CB8AC3E}">
        <p14:creationId xmlns:p14="http://schemas.microsoft.com/office/powerpoint/2010/main" val="2052813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dirty="0"/>
              <a:t>Мета варіанту використання полягає в тому, щоб визначити закінчений аспект або фрагмент поведінки деякої сутності без розкриття внутрішньої структури цієї сутності. В якості такої сутності може виступати вихідна система або будь-який інший елемент моделі, який володіє власною поведінкою, подібно підсистемі або класу в моделі системи.</a:t>
            </a:r>
          </a:p>
          <a:p>
            <a:endParaRPr lang="uk-UA" dirty="0"/>
          </a:p>
          <a:p>
            <a:r>
              <a:rPr lang="uk-UA" dirty="0"/>
              <a:t>Кожен варіант використання відповідає окремому сервісу, який надає </a:t>
            </a:r>
            <a:r>
              <a:rPr lang="uk-UA" dirty="0" err="1"/>
              <a:t>моделируемую</a:t>
            </a:r>
            <a:r>
              <a:rPr lang="uk-UA" dirty="0"/>
              <a:t> сутність або систему по запиту користувача (актора), тобто визначає спосіб застосування цієї сутності. Сервіс, який </a:t>
            </a:r>
            <a:r>
              <a:rPr lang="uk-UA" dirty="0" err="1"/>
              <a:t>ініціалізується</a:t>
            </a:r>
            <a:r>
              <a:rPr lang="uk-UA" dirty="0"/>
              <a:t> за запитом користувача, є закінченою послідовність дій. Це означає, що після того як система закінчить обробку запиту користувача, вона повинна повернутися в початковий стан, в якому готова до виконання наступних запитів.</a:t>
            </a:r>
          </a:p>
          <a:p>
            <a:endParaRPr lang="uk-UA" dirty="0"/>
          </a:p>
          <a:p>
            <a:r>
              <a:rPr lang="uk-UA" dirty="0"/>
              <a:t>Варіанти використання описують не тільки взаємодії між користувачами і сутністю, але також реакції суті на отримання окремих повідомлень від користувачів і сприйняття цих повідомлень за межами суті. Варіанти використання можуть включати в себе опис особливостей способів реалізації сервісу і різних виняткових ситуацій, таких як коректна обробка помилок системи. Безліч варіантів використання в цілому повинно визначати всі можливі сторони очікуваної поведінки системи. Для зручності безліч варіантів використання може розглядатися як окремий пакет.</a:t>
            </a:r>
          </a:p>
          <a:p>
            <a:endParaRPr lang="uk-UA" dirty="0"/>
          </a:p>
          <a:p>
            <a:r>
              <a:rPr lang="uk-UA" dirty="0"/>
              <a:t>З системно-аналітичної точки зору варіанти використання можуть застосовуватися як для специфікації зовнішніх вимог до проектованої системи, так і для специфікації функціонального поведінки вже існуючої системи. Крім цього, варіанти використання неявно встановлюють вимоги, що визначають, як користувачі повинні взаємодіяти з системою, щоб мати можливість </a:t>
            </a:r>
            <a:r>
              <a:rPr lang="uk-UA" dirty="0" err="1"/>
              <a:t>коректно</a:t>
            </a:r>
            <a:r>
              <a:rPr lang="uk-UA" dirty="0"/>
              <a:t> працювати з наданими даною системою сервісами!</a:t>
            </a:r>
          </a:p>
          <a:p>
            <a:endParaRPr lang="uk-UA" dirty="0"/>
          </a:p>
          <a:p>
            <a:r>
              <a:rPr lang="uk-UA" dirty="0"/>
              <a:t>Примітка</a:t>
            </a:r>
          </a:p>
          <a:p>
            <a:endParaRPr lang="uk-UA" dirty="0"/>
          </a:p>
          <a:p>
            <a:r>
              <a:rPr lang="uk-UA" dirty="0"/>
              <a:t>Кожен виконуваний варіантом використання метод реалізується як неподільна транзакція, т. Е. Виконання сервісу не може бути перервано ніяким іншим екземпляром варіанту використання.</a:t>
            </a:r>
          </a:p>
          <a:p>
            <a:endParaRPr lang="uk-UA" dirty="0"/>
          </a:p>
          <a:p>
            <a:r>
              <a:rPr lang="uk-UA" dirty="0"/>
              <a:t>Застосування варіантів використання на всіх рівнях діаграми дозволяє не тільки досягти необхідного рівня уніфікації позначень для подання функціональності підсистем і системи в цілому, а й є потужним засобом послідовного уточнення вимог до проектованої системи на основі </a:t>
            </a:r>
            <a:r>
              <a:rPr lang="uk-UA" dirty="0" err="1"/>
              <a:t>полууровневого</a:t>
            </a:r>
            <a:r>
              <a:rPr lang="uk-UA" dirty="0"/>
              <a:t> спуску від пакетів системи до операцій класів. З іншого боку, модифікація окремих операцій класу може надати зворотний вплив на уточнення сервісу відповідного варіанту використання, тобто реалізувати ефект зворотного зв'язку з метою уточнення специфікацій або вимог на рівні пакетів системи.</a:t>
            </a:r>
          </a:p>
          <a:p>
            <a:endParaRPr lang="uk-UA" dirty="0"/>
          </a:p>
          <a:p>
            <a:r>
              <a:rPr lang="uk-UA" dirty="0"/>
              <a:t>В </a:t>
            </a:r>
            <a:r>
              <a:rPr lang="uk-UA" dirty="0" err="1"/>
              <a:t>метамоделі</a:t>
            </a:r>
            <a:r>
              <a:rPr lang="uk-UA" dirty="0"/>
              <a:t> </a:t>
            </a:r>
            <a:r>
              <a:rPr lang="en-US" dirty="0"/>
              <a:t>UML </a:t>
            </a:r>
            <a:r>
              <a:rPr lang="uk-UA" dirty="0"/>
              <a:t>варіант використання є підкласом класифікатора, який описує послідовності дій, які виконуються окремими екземпляром варіанту використання. Ці дії включають зміни стану і взаємодії з середовищем варіанту використання. Ці послідовності можуть описуватися різними способами, включаючи такі, як графи діяльності та автомати.</a:t>
            </a:r>
          </a:p>
          <a:p>
            <a:endParaRPr lang="uk-UA" dirty="0"/>
          </a:p>
          <a:p>
            <a:r>
              <a:rPr lang="uk-UA" dirty="0"/>
              <a:t>Прикладами варіантів використання можуть бути наступні дії: перевірка стану поточного рахунку клієнта, оформлення замовлення на покупку товару, щоб отримати додаткову інформацію про кредитоспроможність клієнта, відображення графічної форми на екрані монітора і інші дії.</a:t>
            </a:r>
          </a:p>
        </p:txBody>
      </p:sp>
      <p:sp>
        <p:nvSpPr>
          <p:cNvPr id="4" name="Slide Number Placeholder 3"/>
          <p:cNvSpPr>
            <a:spLocks noGrp="1"/>
          </p:cNvSpPr>
          <p:nvPr>
            <p:ph type="sldNum" sz="quarter" idx="5"/>
          </p:nvPr>
        </p:nvSpPr>
        <p:spPr/>
        <p:txBody>
          <a:bodyPr/>
          <a:lstStyle/>
          <a:p>
            <a:fld id="{B9BC4661-125B-46EB-8EC6-BAD081C7C1BE}" type="slidenum">
              <a:rPr lang="uk-UA" smtClean="0"/>
              <a:t>5</a:t>
            </a:fld>
            <a:endParaRPr lang="uk-UA"/>
          </a:p>
        </p:txBody>
      </p:sp>
    </p:spTree>
    <p:extLst>
      <p:ext uri="{BB962C8B-B14F-4D97-AF65-F5344CB8AC3E}">
        <p14:creationId xmlns:p14="http://schemas.microsoft.com/office/powerpoint/2010/main" val="1454875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dirty="0"/>
          </a:p>
        </p:txBody>
      </p:sp>
      <p:sp>
        <p:nvSpPr>
          <p:cNvPr id="4" name="Slide Number Placeholder 3"/>
          <p:cNvSpPr>
            <a:spLocks noGrp="1"/>
          </p:cNvSpPr>
          <p:nvPr>
            <p:ph type="sldNum" sz="quarter" idx="5"/>
          </p:nvPr>
        </p:nvSpPr>
        <p:spPr/>
        <p:txBody>
          <a:bodyPr/>
          <a:lstStyle/>
          <a:p>
            <a:fld id="{B9BC4661-125B-46EB-8EC6-BAD081C7C1BE}" type="slidenum">
              <a:rPr lang="uk-UA" smtClean="0"/>
              <a:t>6</a:t>
            </a:fld>
            <a:endParaRPr lang="uk-UA"/>
          </a:p>
        </p:txBody>
      </p:sp>
    </p:spTree>
    <p:extLst>
      <p:ext uri="{BB962C8B-B14F-4D97-AF65-F5344CB8AC3E}">
        <p14:creationId xmlns:p14="http://schemas.microsoft.com/office/powerpoint/2010/main" val="1156729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dirty="0"/>
          </a:p>
        </p:txBody>
      </p:sp>
      <p:sp>
        <p:nvSpPr>
          <p:cNvPr id="4" name="Slide Number Placeholder 3"/>
          <p:cNvSpPr>
            <a:spLocks noGrp="1"/>
          </p:cNvSpPr>
          <p:nvPr>
            <p:ph type="sldNum" sz="quarter" idx="5"/>
          </p:nvPr>
        </p:nvSpPr>
        <p:spPr/>
        <p:txBody>
          <a:bodyPr/>
          <a:lstStyle/>
          <a:p>
            <a:fld id="{B9BC4661-125B-46EB-8EC6-BAD081C7C1BE}" type="slidenum">
              <a:rPr lang="uk-UA" smtClean="0"/>
              <a:t>7</a:t>
            </a:fld>
            <a:endParaRPr lang="uk-UA"/>
          </a:p>
        </p:txBody>
      </p:sp>
    </p:spTree>
    <p:extLst>
      <p:ext uri="{BB962C8B-B14F-4D97-AF65-F5344CB8AC3E}">
        <p14:creationId xmlns:p14="http://schemas.microsoft.com/office/powerpoint/2010/main" val="1502664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dirty="0"/>
              <a:t>Якщо в примітці зазначається ключове слово "</a:t>
            </a:r>
            <a:r>
              <a:rPr lang="en-US" dirty="0"/>
              <a:t>constraint", </a:t>
            </a:r>
            <a:r>
              <a:rPr lang="uk-UA" dirty="0"/>
              <a:t>то дана примітка є обмеженням, що накладаються на відповідний елемент моделі, але не на саму діаграму. При цьому запис обмеження полягає в фігурні дужки і повинна відповідати правилам правильного побудови виразів мови ОС</a:t>
            </a:r>
            <a:r>
              <a:rPr lang="en-US" dirty="0"/>
              <a:t>l. </a:t>
            </a:r>
            <a:r>
              <a:rPr lang="uk-UA" dirty="0"/>
              <a:t>Більш докладно мова об'єктних обмежень і приклади його використання будуть розглянуті в додатку. Однак для діаграм варіантів використання обмеження включати в моделі не рекомендується, оскільки вони досить жорстко регламентують окремі аспекти системи. Подібна регламентація суперечить неформальному характеру загальної моделі системи, в якості якої виступає діаграма варіантів використання.</a:t>
            </a:r>
          </a:p>
        </p:txBody>
      </p:sp>
      <p:sp>
        <p:nvSpPr>
          <p:cNvPr id="4" name="Slide Number Placeholder 3"/>
          <p:cNvSpPr>
            <a:spLocks noGrp="1"/>
          </p:cNvSpPr>
          <p:nvPr>
            <p:ph type="sldNum" sz="quarter" idx="5"/>
          </p:nvPr>
        </p:nvSpPr>
        <p:spPr/>
        <p:txBody>
          <a:bodyPr/>
          <a:lstStyle/>
          <a:p>
            <a:fld id="{B9BC4661-125B-46EB-8EC6-BAD081C7C1BE}" type="slidenum">
              <a:rPr lang="uk-UA" smtClean="0"/>
              <a:t>8</a:t>
            </a:fld>
            <a:endParaRPr lang="uk-UA"/>
          </a:p>
        </p:txBody>
      </p:sp>
    </p:spTree>
    <p:extLst>
      <p:ext uri="{BB962C8B-B14F-4D97-AF65-F5344CB8AC3E}">
        <p14:creationId xmlns:p14="http://schemas.microsoft.com/office/powerpoint/2010/main" val="591803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dirty="0"/>
          </a:p>
        </p:txBody>
      </p:sp>
      <p:sp>
        <p:nvSpPr>
          <p:cNvPr id="4" name="Slide Number Placeholder 3"/>
          <p:cNvSpPr>
            <a:spLocks noGrp="1"/>
          </p:cNvSpPr>
          <p:nvPr>
            <p:ph type="sldNum" sz="quarter" idx="5"/>
          </p:nvPr>
        </p:nvSpPr>
        <p:spPr/>
        <p:txBody>
          <a:bodyPr/>
          <a:lstStyle/>
          <a:p>
            <a:fld id="{B9BC4661-125B-46EB-8EC6-BAD081C7C1BE}" type="slidenum">
              <a:rPr lang="uk-UA" smtClean="0"/>
              <a:t>9</a:t>
            </a:fld>
            <a:endParaRPr lang="uk-UA"/>
          </a:p>
        </p:txBody>
      </p:sp>
    </p:spTree>
    <p:extLst>
      <p:ext uri="{BB962C8B-B14F-4D97-AF65-F5344CB8AC3E}">
        <p14:creationId xmlns:p14="http://schemas.microsoft.com/office/powerpoint/2010/main" val="33951426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dirty="0"/>
          </a:p>
        </p:txBody>
      </p:sp>
      <p:sp>
        <p:nvSpPr>
          <p:cNvPr id="4" name="Slide Number Placeholder 3"/>
          <p:cNvSpPr>
            <a:spLocks noGrp="1"/>
          </p:cNvSpPr>
          <p:nvPr>
            <p:ph type="sldNum" sz="quarter" idx="5"/>
          </p:nvPr>
        </p:nvSpPr>
        <p:spPr/>
        <p:txBody>
          <a:bodyPr/>
          <a:lstStyle/>
          <a:p>
            <a:fld id="{B9BC4661-125B-46EB-8EC6-BAD081C7C1BE}" type="slidenum">
              <a:rPr lang="uk-UA" smtClean="0"/>
              <a:t>10</a:t>
            </a:fld>
            <a:endParaRPr lang="uk-UA"/>
          </a:p>
        </p:txBody>
      </p:sp>
    </p:spTree>
    <p:extLst>
      <p:ext uri="{BB962C8B-B14F-4D97-AF65-F5344CB8AC3E}">
        <p14:creationId xmlns:p14="http://schemas.microsoft.com/office/powerpoint/2010/main" val="14772023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dirty="0"/>
          </a:p>
        </p:txBody>
      </p:sp>
      <p:sp>
        <p:nvSpPr>
          <p:cNvPr id="4" name="Slide Number Placeholder 3"/>
          <p:cNvSpPr>
            <a:spLocks noGrp="1"/>
          </p:cNvSpPr>
          <p:nvPr>
            <p:ph type="sldNum" sz="quarter" idx="5"/>
          </p:nvPr>
        </p:nvSpPr>
        <p:spPr/>
        <p:txBody>
          <a:bodyPr/>
          <a:lstStyle/>
          <a:p>
            <a:fld id="{B9BC4661-125B-46EB-8EC6-BAD081C7C1BE}" type="slidenum">
              <a:rPr lang="uk-UA" smtClean="0"/>
              <a:t>11</a:t>
            </a:fld>
            <a:endParaRPr lang="uk-UA"/>
          </a:p>
        </p:txBody>
      </p:sp>
    </p:spTree>
    <p:extLst>
      <p:ext uri="{BB962C8B-B14F-4D97-AF65-F5344CB8AC3E}">
        <p14:creationId xmlns:p14="http://schemas.microsoft.com/office/powerpoint/2010/main" val="2939056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dirty="0"/>
          </a:p>
        </p:txBody>
      </p:sp>
      <p:sp>
        <p:nvSpPr>
          <p:cNvPr id="4" name="Slide Number Placeholder 3"/>
          <p:cNvSpPr>
            <a:spLocks noGrp="1"/>
          </p:cNvSpPr>
          <p:nvPr>
            <p:ph type="sldNum" sz="quarter" idx="5"/>
          </p:nvPr>
        </p:nvSpPr>
        <p:spPr/>
        <p:txBody>
          <a:bodyPr/>
          <a:lstStyle/>
          <a:p>
            <a:fld id="{B9BC4661-125B-46EB-8EC6-BAD081C7C1BE}" type="slidenum">
              <a:rPr lang="uk-UA" smtClean="0"/>
              <a:t>12</a:t>
            </a:fld>
            <a:endParaRPr lang="uk-UA"/>
          </a:p>
        </p:txBody>
      </p:sp>
    </p:spTree>
    <p:extLst>
      <p:ext uri="{BB962C8B-B14F-4D97-AF65-F5344CB8AC3E}">
        <p14:creationId xmlns:p14="http://schemas.microsoft.com/office/powerpoint/2010/main" val="1100456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9/8/2025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9/8/2025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9/8/2025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9/8/2025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9/8/2025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9/8/2025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9/8/2025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uk.wikipedia.org/wiki/%D0%93%D1%80%D0%B0%D1%84_(%D0%BC%D0%B0%D1%82%D0%B5%D0%BC%D0%B0%D1%82%D0%B8%D0%BA%D0%B0)"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uk.wikipedia.org/wiki/%D0%93%D1%80%D0%B0%D1%84_(%D0%BC%D0%B0%D1%82%D0%B5%D0%BC%D0%B0%D1%82%D0%B8%D0%BA%D0%B0)"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a:normAutofit/>
          </a:bodyPr>
          <a:lstStyle/>
          <a:p>
            <a:r>
              <a:rPr lang="ru-RU" dirty="0"/>
              <a:t>Основи UML</a:t>
            </a:r>
            <a:endParaRPr lang="en-US" dirty="0"/>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a:normAutofit/>
          </a:bodyPr>
          <a:lstStyle/>
          <a:p>
            <a:r>
              <a:rPr lang="ru-RU" dirty="0"/>
              <a:t>Діаграми використання (use-case)</a:t>
            </a:r>
            <a:endParaRPr lang="uk-UA" dirty="0"/>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5EF0-8BCC-4E8E-9C23-331A9003AFFE}"/>
              </a:ext>
            </a:extLst>
          </p:cNvPr>
          <p:cNvSpPr>
            <a:spLocks noGrp="1"/>
          </p:cNvSpPr>
          <p:nvPr>
            <p:ph type="title"/>
          </p:nvPr>
        </p:nvSpPr>
        <p:spPr/>
        <p:txBody>
          <a:bodyPr/>
          <a:lstStyle/>
          <a:p>
            <a:r>
              <a:rPr lang="uk-UA" dirty="0"/>
              <a:t>призначення</a:t>
            </a:r>
          </a:p>
        </p:txBody>
      </p:sp>
      <p:sp>
        <p:nvSpPr>
          <p:cNvPr id="3" name="Content Placeholder 2">
            <a:extLst>
              <a:ext uri="{FF2B5EF4-FFF2-40B4-BE49-F238E27FC236}">
                <a16:creationId xmlns:a16="http://schemas.microsoft.com/office/drawing/2014/main" id="{2540E54F-6067-40F4-A944-57EA5C66D32F}"/>
              </a:ext>
            </a:extLst>
          </p:cNvPr>
          <p:cNvSpPr>
            <a:spLocks noGrp="1"/>
          </p:cNvSpPr>
          <p:nvPr>
            <p:ph idx="1"/>
          </p:nvPr>
        </p:nvSpPr>
        <p:spPr/>
        <p:txBody>
          <a:bodyPr/>
          <a:lstStyle/>
          <a:p>
            <a:pPr marL="0" indent="0">
              <a:buNone/>
            </a:pPr>
            <a:r>
              <a:rPr lang="ru-RU" dirty="0"/>
              <a:t>Діаграму варіантів використання є сенс будувати під час </a:t>
            </a:r>
            <a:r>
              <a:rPr lang="ru-RU" b="1" dirty="0"/>
              <a:t>вивчення технічного завдання</a:t>
            </a:r>
            <a:r>
              <a:rPr lang="ru-RU" dirty="0"/>
              <a:t>, вона складається з </a:t>
            </a:r>
            <a:r>
              <a:rPr lang="ru-RU" dirty="0">
                <a:solidFill>
                  <a:srgbClr val="FF0000"/>
                </a:solidFill>
              </a:rPr>
              <a:t>графічної діаграми</a:t>
            </a:r>
            <a:r>
              <a:rPr lang="ru-RU" dirty="0"/>
              <a:t>, яка описує дійові особи і прецеденти, а також </a:t>
            </a:r>
            <a:r>
              <a:rPr lang="ru-RU" dirty="0">
                <a:solidFill>
                  <a:srgbClr val="FF0000"/>
                </a:solidFill>
              </a:rPr>
              <a:t>специфікації</a:t>
            </a:r>
            <a:r>
              <a:rPr lang="ru-RU" dirty="0"/>
              <a:t>, що представляє собою текстовий опис конкретних послідовностей дій (потоку подій), які виконує користувач при роботі з системою. </a:t>
            </a:r>
          </a:p>
          <a:p>
            <a:pPr marL="0" indent="0">
              <a:buNone/>
            </a:pPr>
            <a:r>
              <a:rPr lang="ru-RU" dirty="0"/>
              <a:t>Специфікація потім стане основою для тестування і документації, а на наступних етапах проектування вона доповнюється і оформляється у вигляді діаграми (в рамках </a:t>
            </a:r>
            <a:r>
              <a:rPr lang="en-US" dirty="0"/>
              <a:t>ICONIX </a:t>
            </a:r>
            <a:r>
              <a:rPr lang="ru-RU" dirty="0"/>
              <a:t>використовується діаграма послідовності, але в </a:t>
            </a:r>
            <a:r>
              <a:rPr lang="en-US" dirty="0"/>
              <a:t>UML </a:t>
            </a:r>
            <a:r>
              <a:rPr lang="ru-RU" dirty="0"/>
              <a:t>для цього є також діаграми діяльності). </a:t>
            </a:r>
          </a:p>
          <a:p>
            <a:pPr marL="0" indent="0">
              <a:buNone/>
            </a:pPr>
            <a:r>
              <a:rPr lang="ru-RU" dirty="0"/>
              <a:t>Крім того, </a:t>
            </a:r>
            <a:r>
              <a:rPr lang="en-US" dirty="0"/>
              <a:t>use-case </a:t>
            </a:r>
            <a:r>
              <a:rPr lang="ru-RU" dirty="0"/>
              <a:t>діаграма досить проста, щоб її міг зрозуміти замовник, отже ви можете використовувати її для узгодження ТЗ (адже діаграма описує функціональні вимоги до системи).</a:t>
            </a:r>
            <a:endParaRPr lang="uk-UA" dirty="0"/>
          </a:p>
        </p:txBody>
      </p:sp>
    </p:spTree>
    <p:extLst>
      <p:ext uri="{BB962C8B-B14F-4D97-AF65-F5344CB8AC3E}">
        <p14:creationId xmlns:p14="http://schemas.microsoft.com/office/powerpoint/2010/main" val="2970509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DBD19-2EDD-420C-B0E2-17B5FAC5DF63}"/>
              </a:ext>
            </a:extLst>
          </p:cNvPr>
          <p:cNvSpPr>
            <a:spLocks noGrp="1"/>
          </p:cNvSpPr>
          <p:nvPr>
            <p:ph type="title"/>
          </p:nvPr>
        </p:nvSpPr>
        <p:spPr/>
        <p:txBody>
          <a:bodyPr/>
          <a:lstStyle/>
          <a:p>
            <a:r>
              <a:rPr lang="uk-UA" dirty="0"/>
              <a:t>Діаграма прецедентів</a:t>
            </a:r>
            <a:r>
              <a:rPr lang="en-US" dirty="0">
                <a:latin typeface="Corbel" panose="020B0503020204020204" pitchFamily="34" charset="0"/>
              </a:rPr>
              <a:t>. </a:t>
            </a:r>
            <a:r>
              <a:rPr lang="en-US" dirty="0">
                <a:latin typeface="Corbel" panose="020B0503020204020204" pitchFamily="34" charset="0"/>
                <a:cs typeface="Calibri" panose="020F0502020204030204" pitchFamily="34" charset="0"/>
              </a:rPr>
              <a:t>Use </a:t>
            </a:r>
            <a:r>
              <a:rPr lang="en-US" dirty="0" err="1">
                <a:latin typeface="Corbel" panose="020B0503020204020204" pitchFamily="34" charset="0"/>
                <a:cs typeface="Calibri" panose="020F0502020204030204" pitchFamily="34" charset="0"/>
              </a:rPr>
              <a:t>caSe</a:t>
            </a:r>
            <a:r>
              <a:rPr lang="en-US" dirty="0">
                <a:latin typeface="Corbel" panose="020B0503020204020204" pitchFamily="34" charset="0"/>
                <a:cs typeface="Calibri" panose="020F0502020204030204" pitchFamily="34" charset="0"/>
              </a:rPr>
              <a:t>. </a:t>
            </a:r>
            <a:r>
              <a:rPr lang="uk-UA" dirty="0">
                <a:latin typeface="Corbel" panose="020B0503020204020204" pitchFamily="34" charset="0"/>
                <a:cs typeface="Calibri" panose="020F0502020204030204" pitchFamily="34" charset="0"/>
              </a:rPr>
              <a:t>діаграма </a:t>
            </a:r>
            <a:r>
              <a:rPr lang="uk-UA" dirty="0">
                <a:latin typeface="Corbel" panose="020B0503020204020204" pitchFamily="34" charset="0"/>
              </a:rPr>
              <a:t>варіантів використання</a:t>
            </a:r>
          </a:p>
        </p:txBody>
      </p:sp>
      <p:sp>
        <p:nvSpPr>
          <p:cNvPr id="3" name="Content Placeholder 2">
            <a:extLst>
              <a:ext uri="{FF2B5EF4-FFF2-40B4-BE49-F238E27FC236}">
                <a16:creationId xmlns:a16="http://schemas.microsoft.com/office/drawing/2014/main" id="{6EBC2855-C047-4C73-8EDE-C8878A6CE606}"/>
              </a:ext>
            </a:extLst>
          </p:cNvPr>
          <p:cNvSpPr>
            <a:spLocks noGrp="1"/>
          </p:cNvSpPr>
          <p:nvPr>
            <p:ph idx="1"/>
          </p:nvPr>
        </p:nvSpPr>
        <p:spPr/>
        <p:txBody>
          <a:bodyPr>
            <a:normAutofit fontScale="62500" lnSpcReduction="20000"/>
          </a:bodyPr>
          <a:lstStyle/>
          <a:p>
            <a:pPr marL="0" indent="0">
              <a:buNone/>
            </a:pPr>
            <a:r>
              <a:rPr lang="uk-UA" dirty="0"/>
              <a:t>Діаграми прецедентів відображають елементи моделі варіантів використання.</a:t>
            </a:r>
            <a:endParaRPr lang="en-US" dirty="0"/>
          </a:p>
          <a:p>
            <a:pPr marL="0" indent="0">
              <a:buNone/>
            </a:pPr>
            <a:r>
              <a:rPr lang="uk-UA" b="1" dirty="0"/>
              <a:t>Діаграма прецедентів</a:t>
            </a:r>
            <a:r>
              <a:rPr lang="uk-UA" dirty="0"/>
              <a:t> є </a:t>
            </a:r>
            <a:r>
              <a:rPr lang="uk-UA" dirty="0">
                <a:hlinkClick r:id="rId2" tooltip="Граф (математика)"/>
              </a:rPr>
              <a:t>графом</a:t>
            </a:r>
            <a:r>
              <a:rPr lang="uk-UA" dirty="0"/>
              <a:t>, що складається з:</a:t>
            </a:r>
            <a:endParaRPr lang="en-US" dirty="0"/>
          </a:p>
          <a:p>
            <a:r>
              <a:rPr lang="uk-UA" dirty="0"/>
              <a:t>множини </a:t>
            </a:r>
            <a:r>
              <a:rPr lang="uk-UA" b="1" dirty="0"/>
              <a:t>акторів</a:t>
            </a:r>
            <a:endParaRPr lang="en-US" b="1" dirty="0"/>
          </a:p>
          <a:p>
            <a:r>
              <a:rPr lang="uk-UA" b="1" dirty="0"/>
              <a:t>прецедентів</a:t>
            </a:r>
            <a:r>
              <a:rPr lang="uk-UA" dirty="0"/>
              <a:t> (варіантів використання) </a:t>
            </a:r>
          </a:p>
          <a:p>
            <a:r>
              <a:rPr lang="uk-UA" dirty="0"/>
              <a:t>актори обмежені </a:t>
            </a:r>
            <a:r>
              <a:rPr lang="uk-UA" b="1" dirty="0"/>
              <a:t>границею системи</a:t>
            </a:r>
            <a:endParaRPr lang="uk-UA" dirty="0"/>
          </a:p>
          <a:p>
            <a:r>
              <a:rPr lang="uk-UA" b="1" dirty="0"/>
              <a:t>інтерфейсів</a:t>
            </a:r>
          </a:p>
          <a:p>
            <a:r>
              <a:rPr lang="uk-UA" b="1" dirty="0"/>
              <a:t>приміток</a:t>
            </a:r>
            <a:endParaRPr lang="en-US" b="1" dirty="0"/>
          </a:p>
          <a:p>
            <a:r>
              <a:rPr lang="uk-UA" b="1" dirty="0"/>
              <a:t>асоціацій</a:t>
            </a:r>
            <a:r>
              <a:rPr lang="uk-UA" dirty="0"/>
              <a:t> між акторами (вкрай </a:t>
            </a:r>
            <a:r>
              <a:rPr lang="uk-UA" dirty="0" err="1"/>
              <a:t>рідко</a:t>
            </a:r>
            <a:r>
              <a:rPr lang="uk-UA" dirty="0"/>
              <a:t> </a:t>
            </a:r>
            <a:r>
              <a:rPr lang="uk-UA" dirty="0" err="1"/>
              <a:t>використовуть</a:t>
            </a:r>
            <a:r>
              <a:rPr lang="uk-UA" dirty="0"/>
              <a:t>, на мою думку в них нема необхідності)</a:t>
            </a:r>
          </a:p>
          <a:p>
            <a:r>
              <a:rPr lang="uk-UA" b="1" dirty="0"/>
              <a:t>асоціацій</a:t>
            </a:r>
            <a:r>
              <a:rPr lang="uk-UA" dirty="0"/>
              <a:t> між прецедентами (вкрай </a:t>
            </a:r>
            <a:r>
              <a:rPr lang="uk-UA" dirty="0" err="1"/>
              <a:t>рідко</a:t>
            </a:r>
            <a:r>
              <a:rPr lang="uk-UA" dirty="0"/>
              <a:t> </a:t>
            </a:r>
            <a:r>
              <a:rPr lang="uk-UA" dirty="0" err="1"/>
              <a:t>використовуть</a:t>
            </a:r>
            <a:r>
              <a:rPr lang="uk-UA" dirty="0"/>
              <a:t>, на мою думку в них нема необхідності)</a:t>
            </a:r>
          </a:p>
          <a:p>
            <a:r>
              <a:rPr lang="uk-UA" b="1" dirty="0"/>
              <a:t>відношень</a:t>
            </a:r>
            <a:r>
              <a:rPr lang="uk-UA" dirty="0"/>
              <a:t> серед </a:t>
            </a:r>
            <a:r>
              <a:rPr lang="uk-UA" b="1" dirty="0"/>
              <a:t>прецедентів</a:t>
            </a:r>
          </a:p>
          <a:p>
            <a:r>
              <a:rPr lang="uk-UA" b="1" dirty="0"/>
              <a:t>відношень</a:t>
            </a:r>
            <a:r>
              <a:rPr lang="uk-UA" dirty="0"/>
              <a:t> між </a:t>
            </a:r>
            <a:r>
              <a:rPr lang="uk-UA" b="1" dirty="0"/>
              <a:t>акторами</a:t>
            </a:r>
            <a:endParaRPr lang="uk-UA" baseline="30000" dirty="0"/>
          </a:p>
          <a:p>
            <a:r>
              <a:rPr lang="ru-RU" b="1" dirty="0"/>
              <a:t>специфікації</a:t>
            </a:r>
            <a:r>
              <a:rPr lang="uk-UA" dirty="0"/>
              <a:t> </a:t>
            </a:r>
          </a:p>
          <a:p>
            <a:pPr marL="0" indent="0">
              <a:buNone/>
            </a:pPr>
            <a:endParaRPr lang="uk-UA" dirty="0"/>
          </a:p>
          <a:p>
            <a:pPr marL="0" indent="0">
              <a:buNone/>
            </a:pPr>
            <a:r>
              <a:rPr lang="en-US" i="1" dirty="0" err="1"/>
              <a:t>wikipedia</a:t>
            </a:r>
            <a:endParaRPr lang="en-US" i="1" dirty="0"/>
          </a:p>
        </p:txBody>
      </p:sp>
    </p:spTree>
    <p:extLst>
      <p:ext uri="{BB962C8B-B14F-4D97-AF65-F5344CB8AC3E}">
        <p14:creationId xmlns:p14="http://schemas.microsoft.com/office/powerpoint/2010/main" val="1712835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A1F0C-004D-4CD4-9D5D-CCE67D846DA2}"/>
              </a:ext>
            </a:extLst>
          </p:cNvPr>
          <p:cNvSpPr>
            <a:spLocks noGrp="1"/>
          </p:cNvSpPr>
          <p:nvPr>
            <p:ph type="title"/>
          </p:nvPr>
        </p:nvSpPr>
        <p:spPr/>
        <p:txBody>
          <a:bodyPr/>
          <a:lstStyle/>
          <a:p>
            <a:r>
              <a:rPr lang="uk-UA" dirty="0"/>
              <a:t>Актор</a:t>
            </a:r>
          </a:p>
        </p:txBody>
      </p:sp>
      <p:sp>
        <p:nvSpPr>
          <p:cNvPr id="3" name="Content Placeholder 2">
            <a:extLst>
              <a:ext uri="{FF2B5EF4-FFF2-40B4-BE49-F238E27FC236}">
                <a16:creationId xmlns:a16="http://schemas.microsoft.com/office/drawing/2014/main" id="{CD27F997-F1F6-40FE-B4D4-FD7B456B2AC0}"/>
              </a:ext>
            </a:extLst>
          </p:cNvPr>
          <p:cNvSpPr>
            <a:spLocks noGrp="1"/>
          </p:cNvSpPr>
          <p:nvPr>
            <p:ph idx="1"/>
          </p:nvPr>
        </p:nvSpPr>
        <p:spPr>
          <a:xfrm>
            <a:off x="581192" y="1991360"/>
            <a:ext cx="7394408" cy="4612640"/>
          </a:xfrm>
        </p:spPr>
        <p:txBody>
          <a:bodyPr>
            <a:normAutofit fontScale="85000" lnSpcReduction="10000"/>
          </a:bodyPr>
          <a:lstStyle/>
          <a:p>
            <a:pPr marL="0" indent="0">
              <a:buNone/>
            </a:pPr>
            <a:r>
              <a:rPr lang="uk-UA" sz="2400" dirty="0"/>
              <a:t>Актор є будь-яку зовнішню по відношенню до модельованої системі сутність, яка взаємодіє з системою і використовує її функціональні можливості для досягнення певної мети або вирішення приватних завдань. При цьому актори служать для позначення узгодженої множини ролей, які можуть грати користувачі в процесі взаємодії з проектованої системою. Кожен актор може розглядатися як якась окрема роль щодо конкретного варіанту використання. Стандартним графічним позначенням актора на діаграмах є </a:t>
            </a:r>
            <a:r>
              <a:rPr lang="uk-UA" sz="2400" dirty="0" err="1"/>
              <a:t>фігурк</a:t>
            </a:r>
            <a:r>
              <a:rPr lang="uk-UA" sz="2400" dirty="0"/>
              <a:t>	а "чоловічка", під якою записується конкретне ім'я актора.</a:t>
            </a:r>
          </a:p>
          <a:p>
            <a:pPr marL="0" indent="0">
              <a:buNone/>
            </a:pPr>
            <a:endParaRPr lang="uk-UA" sz="2400" dirty="0"/>
          </a:p>
          <a:p>
            <a:pPr marL="0" indent="0">
              <a:buNone/>
            </a:pPr>
            <a:r>
              <a:rPr lang="uk-UA" sz="2400" b="1" dirty="0"/>
              <a:t>Приклади</a:t>
            </a:r>
            <a:r>
              <a:rPr lang="uk-UA" sz="2400" dirty="0"/>
              <a:t>: клієнт банку, банківський службовець, продавець магазину, водій автомобіля, стільниковий телефон, </a:t>
            </a:r>
            <a:r>
              <a:rPr lang="en-US" sz="2400" dirty="0" err="1"/>
              <a:t>etc</a:t>
            </a:r>
            <a:r>
              <a:rPr lang="uk-UA" sz="2400" dirty="0"/>
              <a:t>.</a:t>
            </a:r>
          </a:p>
        </p:txBody>
      </p:sp>
      <p:pic>
        <p:nvPicPr>
          <p:cNvPr id="4" name="Picture 3">
            <a:extLst>
              <a:ext uri="{FF2B5EF4-FFF2-40B4-BE49-F238E27FC236}">
                <a16:creationId xmlns:a16="http://schemas.microsoft.com/office/drawing/2014/main" id="{7919E4FB-8D40-484A-8AD8-42700D937108}"/>
              </a:ext>
            </a:extLst>
          </p:cNvPr>
          <p:cNvPicPr>
            <a:picLocks noChangeAspect="1"/>
          </p:cNvPicPr>
          <p:nvPr/>
        </p:nvPicPr>
        <p:blipFill>
          <a:blip r:embed="rId3"/>
          <a:stretch>
            <a:fillRect/>
          </a:stretch>
        </p:blipFill>
        <p:spPr>
          <a:xfrm>
            <a:off x="9323476" y="2581482"/>
            <a:ext cx="876422" cy="3067478"/>
          </a:xfrm>
          <a:prstGeom prst="rect">
            <a:avLst/>
          </a:prstGeom>
        </p:spPr>
      </p:pic>
    </p:spTree>
    <p:extLst>
      <p:ext uri="{BB962C8B-B14F-4D97-AF65-F5344CB8AC3E}">
        <p14:creationId xmlns:p14="http://schemas.microsoft.com/office/powerpoint/2010/main" val="3622519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BB53F82-F191-4EEB-AB7B-F69E634FA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44B42A-90D6-435A-B2A4-51B4C196F636}"/>
              </a:ext>
            </a:extLst>
          </p:cNvPr>
          <p:cNvSpPr>
            <a:spLocks noGrp="1"/>
          </p:cNvSpPr>
          <p:nvPr>
            <p:ph type="title"/>
          </p:nvPr>
        </p:nvSpPr>
        <p:spPr>
          <a:xfrm>
            <a:off x="581192" y="702156"/>
            <a:ext cx="11029616" cy="1188720"/>
          </a:xfrm>
        </p:spPr>
        <p:txBody>
          <a:bodyPr>
            <a:normAutofit/>
          </a:bodyPr>
          <a:lstStyle/>
          <a:p>
            <a:r>
              <a:rPr lang="uk-UA" dirty="0"/>
              <a:t>прецеденти</a:t>
            </a:r>
          </a:p>
        </p:txBody>
      </p:sp>
      <p:sp>
        <p:nvSpPr>
          <p:cNvPr id="11" name="Rectangle 10">
            <a:extLst>
              <a:ext uri="{FF2B5EF4-FFF2-40B4-BE49-F238E27FC236}">
                <a16:creationId xmlns:a16="http://schemas.microsoft.com/office/drawing/2014/main" id="{8616AA08-3831-473D-B61B-89484A33C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12">
            <a:extLst>
              <a:ext uri="{FF2B5EF4-FFF2-40B4-BE49-F238E27FC236}">
                <a16:creationId xmlns:a16="http://schemas.microsoft.com/office/drawing/2014/main" id="{8431B918-3A1C-46BA-9430-CAD97D9DA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14">
            <a:extLst>
              <a:ext uri="{FF2B5EF4-FFF2-40B4-BE49-F238E27FC236}">
                <a16:creationId xmlns:a16="http://schemas.microsoft.com/office/drawing/2014/main" id="{8400935A-2F82-4DC4-A4E1-E12EFB8C2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DF8E6083-1D58-421D-B87D-3AD30B41974F}"/>
              </a:ext>
            </a:extLst>
          </p:cNvPr>
          <p:cNvSpPr>
            <a:spLocks noGrp="1"/>
          </p:cNvSpPr>
          <p:nvPr>
            <p:ph idx="1"/>
          </p:nvPr>
        </p:nvSpPr>
        <p:spPr>
          <a:xfrm>
            <a:off x="581193" y="2180496"/>
            <a:ext cx="6917210" cy="4045683"/>
          </a:xfrm>
        </p:spPr>
        <p:txBody>
          <a:bodyPr>
            <a:normAutofit/>
          </a:bodyPr>
          <a:lstStyle/>
          <a:p>
            <a:pPr marL="0" indent="0">
              <a:buNone/>
            </a:pPr>
            <a:r>
              <a:rPr lang="uk-UA" dirty="0"/>
              <a:t>Це </a:t>
            </a:r>
            <a:r>
              <a:rPr lang="ru-RU" dirty="0"/>
              <a:t>сервіси, які наша система надає акторам</a:t>
            </a:r>
          </a:p>
          <a:p>
            <a:pPr marL="0" indent="0">
              <a:buNone/>
            </a:pPr>
            <a:r>
              <a:rPr lang="ru-RU" dirty="0"/>
              <a:t>Позначається на діаграмі еліпсом, усередині якого міститься його коротка назва або ім'я у формі дієслова з пояснювальними словами.</a:t>
            </a:r>
          </a:p>
          <a:p>
            <a:pPr marL="0" indent="0">
              <a:buNone/>
            </a:pPr>
            <a:r>
              <a:rPr lang="ru-RU" dirty="0"/>
              <a:t>Не слід ділити процеси занадто дрібні, потрібно вибирати лише ті, які дадуть користувачеві значущий результат. Наприклад, касир може «продати товар» (це буде прецедентом), проте «введення штрих-коду товару для отримання ціни» самостійним прецедентом не є</a:t>
            </a:r>
          </a:p>
          <a:p>
            <a:pPr marL="0" indent="0">
              <a:buNone/>
            </a:pPr>
            <a:r>
              <a:rPr lang="ru-RU" dirty="0"/>
              <a:t>Варіанти використання описують не тільки взаємодії між користувачами і програмою, але також реакції суті на отримання окремих повідомлень від користувачів і сприйняття цих повідомлень за межами програми.</a:t>
            </a:r>
            <a:endParaRPr lang="uk-UA" dirty="0"/>
          </a:p>
        </p:txBody>
      </p:sp>
      <p:sp>
        <p:nvSpPr>
          <p:cNvPr id="17" name="Rectangle 16">
            <a:extLst>
              <a:ext uri="{FF2B5EF4-FFF2-40B4-BE49-F238E27FC236}">
                <a16:creationId xmlns:a16="http://schemas.microsoft.com/office/drawing/2014/main" id="{A3D5D599-1CAE-4C92-B5AE-8E51AF6D4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6" y="2180496"/>
            <a:ext cx="3703321"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A3700A4-D88A-468B-A912-F50236D3F78F}"/>
              </a:ext>
            </a:extLst>
          </p:cNvPr>
          <p:cNvPicPr>
            <a:picLocks noChangeAspect="1"/>
          </p:cNvPicPr>
          <p:nvPr/>
        </p:nvPicPr>
        <p:blipFill>
          <a:blip r:embed="rId3"/>
          <a:stretch>
            <a:fillRect/>
          </a:stretch>
        </p:blipFill>
        <p:spPr>
          <a:xfrm>
            <a:off x="8974350" y="2499053"/>
            <a:ext cx="1838911" cy="3405393"/>
          </a:xfrm>
          <a:prstGeom prst="rect">
            <a:avLst/>
          </a:prstGeom>
        </p:spPr>
      </p:pic>
    </p:spTree>
    <p:extLst>
      <p:ext uri="{BB962C8B-B14F-4D97-AF65-F5344CB8AC3E}">
        <p14:creationId xmlns:p14="http://schemas.microsoft.com/office/powerpoint/2010/main" val="3876007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7" name="Rectangle 136">
            <a:extLst>
              <a:ext uri="{FF2B5EF4-FFF2-40B4-BE49-F238E27FC236}">
                <a16:creationId xmlns:a16="http://schemas.microsoft.com/office/drawing/2014/main" id="{FBB53F82-F191-4EEB-AB7B-F69E634FA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D14E36-AAD1-4ECE-B8CA-71760852A158}"/>
              </a:ext>
            </a:extLst>
          </p:cNvPr>
          <p:cNvSpPr>
            <a:spLocks noGrp="1"/>
          </p:cNvSpPr>
          <p:nvPr>
            <p:ph type="title"/>
          </p:nvPr>
        </p:nvSpPr>
        <p:spPr>
          <a:xfrm>
            <a:off x="581192" y="702156"/>
            <a:ext cx="11029616" cy="1188720"/>
          </a:xfrm>
        </p:spPr>
        <p:txBody>
          <a:bodyPr vert="horz" lIns="91440" tIns="45720" rIns="91440" bIns="45720" rtlCol="0">
            <a:normAutofit/>
          </a:bodyPr>
          <a:lstStyle/>
          <a:p>
            <a:r>
              <a:rPr lang="uk-UA" dirty="0"/>
              <a:t>Границя системи</a:t>
            </a:r>
            <a:endParaRPr lang="en-US" dirty="0"/>
          </a:p>
        </p:txBody>
      </p:sp>
      <p:sp>
        <p:nvSpPr>
          <p:cNvPr id="139" name="Rectangle 138">
            <a:extLst>
              <a:ext uri="{FF2B5EF4-FFF2-40B4-BE49-F238E27FC236}">
                <a16:creationId xmlns:a16="http://schemas.microsoft.com/office/drawing/2014/main" id="{8616AA08-3831-473D-B61B-89484A33C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41" name="Rectangle 140">
            <a:extLst>
              <a:ext uri="{FF2B5EF4-FFF2-40B4-BE49-F238E27FC236}">
                <a16:creationId xmlns:a16="http://schemas.microsoft.com/office/drawing/2014/main" id="{8431B918-3A1C-46BA-9430-CAD97D9DA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43" name="Rectangle 142">
            <a:extLst>
              <a:ext uri="{FF2B5EF4-FFF2-40B4-BE49-F238E27FC236}">
                <a16:creationId xmlns:a16="http://schemas.microsoft.com/office/drawing/2014/main" id="{8400935A-2F82-4DC4-A4E1-E12EFB8C2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030" name="Content Placeholder 1029">
            <a:extLst>
              <a:ext uri="{FF2B5EF4-FFF2-40B4-BE49-F238E27FC236}">
                <a16:creationId xmlns:a16="http://schemas.microsoft.com/office/drawing/2014/main" id="{1578DA0E-E998-4402-963F-DB42BA7670C3}"/>
              </a:ext>
            </a:extLst>
          </p:cNvPr>
          <p:cNvSpPr>
            <a:spLocks noGrp="1"/>
          </p:cNvSpPr>
          <p:nvPr>
            <p:ph idx="1"/>
          </p:nvPr>
        </p:nvSpPr>
        <p:spPr>
          <a:xfrm>
            <a:off x="581193" y="2180496"/>
            <a:ext cx="6917210" cy="4045683"/>
          </a:xfrm>
        </p:spPr>
        <p:txBody>
          <a:bodyPr>
            <a:normAutofit/>
          </a:bodyPr>
          <a:lstStyle/>
          <a:p>
            <a:r>
              <a:rPr lang="uk-UA" sz="2800" dirty="0"/>
              <a:t>Діаграма прецедентів є </a:t>
            </a:r>
            <a:r>
              <a:rPr lang="uk-UA" sz="2800" dirty="0">
                <a:hlinkClick r:id="rId3" tooltip="Граф (математика)"/>
              </a:rPr>
              <a:t>графом</a:t>
            </a:r>
            <a:r>
              <a:rPr lang="uk-UA" sz="2800" dirty="0"/>
              <a:t>, що складається з множини акторів, прецедентів (варіантів використання) обмежених границею системи (</a:t>
            </a:r>
            <a:r>
              <a:rPr lang="uk-UA" sz="2800" b="1" dirty="0"/>
              <a:t>прямокутник </a:t>
            </a:r>
            <a:r>
              <a:rPr lang="en-US" sz="2800" b="1" dirty="0"/>
              <a:t>System Boundary</a:t>
            </a:r>
            <a:r>
              <a:rPr lang="uk-UA" sz="2800" dirty="0"/>
              <a:t>), асоціацій між акторами та прецедентами, відношень серед прецедентів, та відношень узагальнення між акторами</a:t>
            </a:r>
            <a:endParaRPr lang="en-US" sz="2800" dirty="0"/>
          </a:p>
        </p:txBody>
      </p:sp>
      <p:sp>
        <p:nvSpPr>
          <p:cNvPr id="145" name="Rectangle 144">
            <a:extLst>
              <a:ext uri="{FF2B5EF4-FFF2-40B4-BE49-F238E27FC236}">
                <a16:creationId xmlns:a16="http://schemas.microsoft.com/office/drawing/2014/main" id="{A3D5D599-1CAE-4C92-B5AE-8E51AF6D4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6" y="2180496"/>
            <a:ext cx="3703321"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6">
            <a:extLst>
              <a:ext uri="{FF2B5EF4-FFF2-40B4-BE49-F238E27FC236}">
                <a16:creationId xmlns:a16="http://schemas.microsoft.com/office/drawing/2014/main" id="{0F84BD8D-3C73-43C8-8F85-C361158FFC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9446" y="2338977"/>
            <a:ext cx="3728720" cy="3728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805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BB53F82-F191-4EEB-AB7B-F69E634FA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B0BE6F-AA0E-46C4-9944-20B618B4FA1D}"/>
              </a:ext>
            </a:extLst>
          </p:cNvPr>
          <p:cNvSpPr>
            <a:spLocks noGrp="1"/>
          </p:cNvSpPr>
          <p:nvPr>
            <p:ph type="title"/>
          </p:nvPr>
        </p:nvSpPr>
        <p:spPr>
          <a:xfrm>
            <a:off x="581192" y="702156"/>
            <a:ext cx="11029616" cy="1188720"/>
          </a:xfrm>
        </p:spPr>
        <p:txBody>
          <a:bodyPr>
            <a:normAutofit/>
          </a:bodyPr>
          <a:lstStyle/>
          <a:p>
            <a:r>
              <a:rPr lang="uk-UA" dirty="0"/>
              <a:t>Інтерфейси</a:t>
            </a:r>
          </a:p>
        </p:txBody>
      </p:sp>
      <p:sp>
        <p:nvSpPr>
          <p:cNvPr id="12" name="Rectangle 11">
            <a:extLst>
              <a:ext uri="{FF2B5EF4-FFF2-40B4-BE49-F238E27FC236}">
                <a16:creationId xmlns:a16="http://schemas.microsoft.com/office/drawing/2014/main" id="{8616AA08-3831-473D-B61B-89484A33C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13">
            <a:extLst>
              <a:ext uri="{FF2B5EF4-FFF2-40B4-BE49-F238E27FC236}">
                <a16:creationId xmlns:a16="http://schemas.microsoft.com/office/drawing/2014/main" id="{8431B918-3A1C-46BA-9430-CAD97D9DA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8400935A-2F82-4DC4-A4E1-E12EFB8C2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1C43694D-D4C6-4C53-A8DC-95F35D1E1209}"/>
              </a:ext>
            </a:extLst>
          </p:cNvPr>
          <p:cNvSpPr>
            <a:spLocks noGrp="1"/>
          </p:cNvSpPr>
          <p:nvPr>
            <p:ph idx="1"/>
          </p:nvPr>
        </p:nvSpPr>
        <p:spPr>
          <a:xfrm>
            <a:off x="581193" y="2180496"/>
            <a:ext cx="6917210" cy="4045683"/>
          </a:xfrm>
        </p:spPr>
        <p:txBody>
          <a:bodyPr>
            <a:normAutofit fontScale="92500" lnSpcReduction="20000"/>
          </a:bodyPr>
          <a:lstStyle/>
          <a:p>
            <a:r>
              <a:rPr lang="uk-UA" sz="2000" dirty="0"/>
              <a:t>Інтерфейс (</a:t>
            </a:r>
            <a:r>
              <a:rPr lang="en-US" sz="2000" dirty="0"/>
              <a:t>interface) </a:t>
            </a:r>
            <a:r>
              <a:rPr lang="uk-UA" sz="2000" dirty="0"/>
              <a:t>служить для специфікації параметрів моделі, які видимі ззовні без вказівки їх внутрішньої структури</a:t>
            </a:r>
          </a:p>
          <a:p>
            <a:r>
              <a:rPr lang="uk-UA" sz="2000" dirty="0"/>
              <a:t>графічний символ окремого інтерфейсу може з'єднуватися на діаграмі суцільною лінією з тим варіантом використання, який його підтримує. Суцільна лінія в цьому випадку вказує на той факт, що пов'язаний з інтерфейсом варіант використання повинен реалізовувати всі операції, необхідні для даного інтерфейсу, а можливо і більше. </a:t>
            </a:r>
          </a:p>
          <a:p>
            <a:r>
              <a:rPr lang="uk-UA" sz="2000" dirty="0"/>
              <a:t>інтерфейси можуть з'єднуватися з варіантами використання пунктирною лінією зі стрілкою, що означає, що варіант використання призначений для специфікації тільки того сервісу, який необхідний для реалізації даного інтерфейсу.</a:t>
            </a:r>
          </a:p>
        </p:txBody>
      </p:sp>
      <p:sp>
        <p:nvSpPr>
          <p:cNvPr id="18" name="Rectangle 17">
            <a:extLst>
              <a:ext uri="{FF2B5EF4-FFF2-40B4-BE49-F238E27FC236}">
                <a16:creationId xmlns:a16="http://schemas.microsoft.com/office/drawing/2014/main" id="{A3D5D599-1CAE-4C92-B5AE-8E51AF6D4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6" y="2180496"/>
            <a:ext cx="3703321"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5BAEC8D-E0B0-4DE3-B120-BB0661FE6F14}"/>
              </a:ext>
            </a:extLst>
          </p:cNvPr>
          <p:cNvPicPr>
            <a:picLocks noChangeAspect="1"/>
          </p:cNvPicPr>
          <p:nvPr/>
        </p:nvPicPr>
        <p:blipFill>
          <a:blip r:embed="rId3"/>
          <a:stretch>
            <a:fillRect/>
          </a:stretch>
        </p:blipFill>
        <p:spPr>
          <a:xfrm>
            <a:off x="8264803" y="2593032"/>
            <a:ext cx="3258005" cy="1066949"/>
          </a:xfrm>
          <a:prstGeom prst="rect">
            <a:avLst/>
          </a:prstGeom>
        </p:spPr>
      </p:pic>
      <p:pic>
        <p:nvPicPr>
          <p:cNvPr id="7" name="Picture 6">
            <a:extLst>
              <a:ext uri="{FF2B5EF4-FFF2-40B4-BE49-F238E27FC236}">
                <a16:creationId xmlns:a16="http://schemas.microsoft.com/office/drawing/2014/main" id="{C8613FCC-1B03-4678-8665-97FA4A3CBC7E}"/>
              </a:ext>
            </a:extLst>
          </p:cNvPr>
          <p:cNvPicPr>
            <a:picLocks noChangeAspect="1"/>
          </p:cNvPicPr>
          <p:nvPr/>
        </p:nvPicPr>
        <p:blipFill>
          <a:blip r:embed="rId4"/>
          <a:stretch>
            <a:fillRect/>
          </a:stretch>
        </p:blipFill>
        <p:spPr>
          <a:xfrm>
            <a:off x="8202881" y="4072517"/>
            <a:ext cx="3381847" cy="990738"/>
          </a:xfrm>
          <a:prstGeom prst="rect">
            <a:avLst/>
          </a:prstGeom>
        </p:spPr>
      </p:pic>
    </p:spTree>
    <p:extLst>
      <p:ext uri="{BB962C8B-B14F-4D97-AF65-F5344CB8AC3E}">
        <p14:creationId xmlns:p14="http://schemas.microsoft.com/office/powerpoint/2010/main" val="1249045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8">
            <a:extLst>
              <a:ext uri="{FF2B5EF4-FFF2-40B4-BE49-F238E27FC236}">
                <a16:creationId xmlns:a16="http://schemas.microsoft.com/office/drawing/2014/main" id="{FBB53F82-F191-4EEB-AB7B-F69E634FA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56F7B3-1C63-473F-B314-D20CC4A68917}"/>
              </a:ext>
            </a:extLst>
          </p:cNvPr>
          <p:cNvSpPr>
            <a:spLocks noGrp="1"/>
          </p:cNvSpPr>
          <p:nvPr>
            <p:ph type="title"/>
          </p:nvPr>
        </p:nvSpPr>
        <p:spPr>
          <a:xfrm>
            <a:off x="581192" y="702156"/>
            <a:ext cx="11029616" cy="1188720"/>
          </a:xfrm>
        </p:spPr>
        <p:txBody>
          <a:bodyPr>
            <a:normAutofit/>
          </a:bodyPr>
          <a:lstStyle/>
          <a:p>
            <a:r>
              <a:rPr lang="uk-UA"/>
              <a:t>Примітки</a:t>
            </a:r>
            <a:endParaRPr lang="uk-UA" dirty="0"/>
          </a:p>
        </p:txBody>
      </p:sp>
      <p:sp>
        <p:nvSpPr>
          <p:cNvPr id="18" name="Rectangle 10">
            <a:extLst>
              <a:ext uri="{FF2B5EF4-FFF2-40B4-BE49-F238E27FC236}">
                <a16:creationId xmlns:a16="http://schemas.microsoft.com/office/drawing/2014/main" id="{8616AA08-3831-473D-B61B-89484A33C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2">
            <a:extLst>
              <a:ext uri="{FF2B5EF4-FFF2-40B4-BE49-F238E27FC236}">
                <a16:creationId xmlns:a16="http://schemas.microsoft.com/office/drawing/2014/main" id="{8431B918-3A1C-46BA-9430-CAD97D9DA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4">
            <a:extLst>
              <a:ext uri="{FF2B5EF4-FFF2-40B4-BE49-F238E27FC236}">
                <a16:creationId xmlns:a16="http://schemas.microsoft.com/office/drawing/2014/main" id="{8400935A-2F82-4DC4-A4E1-E12EFB8C2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534DBFA0-F52F-41A4-8563-4A9B7AF2D626}"/>
              </a:ext>
            </a:extLst>
          </p:cNvPr>
          <p:cNvSpPr>
            <a:spLocks noGrp="1"/>
          </p:cNvSpPr>
          <p:nvPr>
            <p:ph idx="1"/>
          </p:nvPr>
        </p:nvSpPr>
        <p:spPr>
          <a:xfrm>
            <a:off x="581193" y="2180496"/>
            <a:ext cx="6917210" cy="4045683"/>
          </a:xfrm>
        </p:spPr>
        <p:txBody>
          <a:bodyPr>
            <a:normAutofit/>
          </a:bodyPr>
          <a:lstStyle/>
          <a:p>
            <a:r>
              <a:rPr lang="uk-UA"/>
              <a:t>Примітки (</a:t>
            </a:r>
            <a:r>
              <a:rPr lang="en-US"/>
              <a:t>notes) </a:t>
            </a:r>
            <a:r>
              <a:rPr lang="uk-UA"/>
              <a:t>в мові </a:t>
            </a:r>
            <a:r>
              <a:rPr lang="en-US"/>
              <a:t>UML </a:t>
            </a:r>
            <a:r>
              <a:rPr lang="uk-UA"/>
              <a:t>призначені для включення в модель довільної текстової інформації, що має безпосереднє відношення до контексту розроблюваного проекту. В якості такої інформації можуть бути коментарі розробника (наприклад, дата і версія розробки діаграми або її окремих компонентів), обмеження (наприклад, на значення окремих зв'язків або екземпляри сутностей) і помічені значення. Стосовно діаграм варіантів використання примітка може носити саму загальну інформацію, що відноситься до загального контексту системи.</a:t>
            </a:r>
            <a:endParaRPr lang="uk-UA" dirty="0"/>
          </a:p>
        </p:txBody>
      </p:sp>
      <p:sp>
        <p:nvSpPr>
          <p:cNvPr id="21" name="Rectangle 16">
            <a:extLst>
              <a:ext uri="{FF2B5EF4-FFF2-40B4-BE49-F238E27FC236}">
                <a16:creationId xmlns:a16="http://schemas.microsoft.com/office/drawing/2014/main" id="{A3D5D599-1CAE-4C92-B5AE-8E51AF6D4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6" y="2180496"/>
            <a:ext cx="3703321"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ell phone&#10;&#10;Description automatically generated">
            <a:extLst>
              <a:ext uri="{FF2B5EF4-FFF2-40B4-BE49-F238E27FC236}">
                <a16:creationId xmlns:a16="http://schemas.microsoft.com/office/drawing/2014/main" id="{64360EDE-5BD8-4BC9-A443-62E0070A6E1D}"/>
              </a:ext>
            </a:extLst>
          </p:cNvPr>
          <p:cNvPicPr>
            <a:picLocks noChangeAspect="1"/>
          </p:cNvPicPr>
          <p:nvPr/>
        </p:nvPicPr>
        <p:blipFill>
          <a:blip r:embed="rId3"/>
          <a:stretch>
            <a:fillRect/>
          </a:stretch>
        </p:blipFill>
        <p:spPr>
          <a:xfrm>
            <a:off x="8363915" y="2640848"/>
            <a:ext cx="3059782" cy="3121803"/>
          </a:xfrm>
          <a:prstGeom prst="rect">
            <a:avLst/>
          </a:prstGeom>
        </p:spPr>
      </p:pic>
    </p:spTree>
    <p:extLst>
      <p:ext uri="{BB962C8B-B14F-4D97-AF65-F5344CB8AC3E}">
        <p14:creationId xmlns:p14="http://schemas.microsoft.com/office/powerpoint/2010/main" val="2820006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BB53F82-F191-4EEB-AB7B-F69E634FA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1AA6B9-459C-40CF-AB6F-D5A93FDAC9B8}"/>
              </a:ext>
            </a:extLst>
          </p:cNvPr>
          <p:cNvSpPr>
            <a:spLocks noGrp="1"/>
          </p:cNvSpPr>
          <p:nvPr>
            <p:ph type="title"/>
          </p:nvPr>
        </p:nvSpPr>
        <p:spPr>
          <a:xfrm>
            <a:off x="581192" y="702156"/>
            <a:ext cx="11029616" cy="1188720"/>
          </a:xfrm>
        </p:spPr>
        <p:txBody>
          <a:bodyPr>
            <a:normAutofit/>
          </a:bodyPr>
          <a:lstStyle/>
          <a:p>
            <a:r>
              <a:rPr lang="uk-UA" dirty="0"/>
              <a:t>Відношення. Асоціація</a:t>
            </a:r>
          </a:p>
        </p:txBody>
      </p:sp>
      <p:sp>
        <p:nvSpPr>
          <p:cNvPr id="11" name="Rectangle 10">
            <a:extLst>
              <a:ext uri="{FF2B5EF4-FFF2-40B4-BE49-F238E27FC236}">
                <a16:creationId xmlns:a16="http://schemas.microsoft.com/office/drawing/2014/main" id="{8616AA08-3831-473D-B61B-89484A33C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12">
            <a:extLst>
              <a:ext uri="{FF2B5EF4-FFF2-40B4-BE49-F238E27FC236}">
                <a16:creationId xmlns:a16="http://schemas.microsoft.com/office/drawing/2014/main" id="{8431B918-3A1C-46BA-9430-CAD97D9DA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14">
            <a:extLst>
              <a:ext uri="{FF2B5EF4-FFF2-40B4-BE49-F238E27FC236}">
                <a16:creationId xmlns:a16="http://schemas.microsoft.com/office/drawing/2014/main" id="{8400935A-2F82-4DC4-A4E1-E12EFB8C2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EEC24203-435B-472D-80C2-0FD569F546EC}"/>
              </a:ext>
            </a:extLst>
          </p:cNvPr>
          <p:cNvSpPr>
            <a:spLocks noGrp="1"/>
          </p:cNvSpPr>
          <p:nvPr>
            <p:ph idx="1"/>
          </p:nvPr>
        </p:nvSpPr>
        <p:spPr>
          <a:xfrm>
            <a:off x="581193" y="2180496"/>
            <a:ext cx="6917210" cy="4045683"/>
          </a:xfrm>
        </p:spPr>
        <p:txBody>
          <a:bodyPr>
            <a:normAutofit/>
          </a:bodyPr>
          <a:lstStyle/>
          <a:p>
            <a:pPr marL="0" indent="0">
              <a:buNone/>
            </a:pPr>
            <a:r>
              <a:rPr lang="ru-RU" sz="1800" dirty="0"/>
              <a:t>Асоціації є одним з фундаментальних понять в мові </a:t>
            </a:r>
            <a:r>
              <a:rPr lang="en-US" sz="1800" dirty="0"/>
              <a:t>UML </a:t>
            </a:r>
            <a:r>
              <a:rPr lang="ru-RU" sz="1800" dirty="0"/>
              <a:t>і в тій чи іншій мірі використовується при побудові всіх графічних моделей систем у формі канонічних діаграм.</a:t>
            </a:r>
          </a:p>
          <a:p>
            <a:pPr marL="0" indent="0">
              <a:buNone/>
            </a:pPr>
            <a:endParaRPr lang="ru-RU" sz="1800" dirty="0"/>
          </a:p>
          <a:p>
            <a:pPr marL="0" indent="0">
              <a:buNone/>
            </a:pPr>
            <a:r>
              <a:rPr lang="ru-RU" sz="1800" dirty="0"/>
              <a:t>Стосовно діаграм варіантів використання воно служить для позначення специфічної ролі актора в окремому варіанті використання. Цей показник встановлює, яку конкретну роль грає актор при взаємодії з екземпляром варіанту використання. На діаграмі варіантів використання, так само як і на інших діаграмах, ставлення асоціації позначається суцільною лінією між актором і варіантом використання. Ця лінія може мати додаткові умовні позначення, такі, наприклад, як ім'я та кратність</a:t>
            </a:r>
          </a:p>
        </p:txBody>
      </p:sp>
      <p:sp>
        <p:nvSpPr>
          <p:cNvPr id="17" name="Rectangle 16">
            <a:extLst>
              <a:ext uri="{FF2B5EF4-FFF2-40B4-BE49-F238E27FC236}">
                <a16:creationId xmlns:a16="http://schemas.microsoft.com/office/drawing/2014/main" id="{A3D5D599-1CAE-4C92-B5AE-8E51AF6D4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6" y="2180496"/>
            <a:ext cx="3703321"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A2029DB-8E7C-4A37-B10D-36E9332F1E98}"/>
              </a:ext>
            </a:extLst>
          </p:cNvPr>
          <p:cNvPicPr>
            <a:picLocks noChangeAspect="1"/>
          </p:cNvPicPr>
          <p:nvPr/>
        </p:nvPicPr>
        <p:blipFill>
          <a:blip r:embed="rId3"/>
          <a:stretch>
            <a:fillRect/>
          </a:stretch>
        </p:blipFill>
        <p:spPr>
          <a:xfrm>
            <a:off x="8363915" y="3686882"/>
            <a:ext cx="3059782" cy="1029734"/>
          </a:xfrm>
          <a:prstGeom prst="rect">
            <a:avLst/>
          </a:prstGeom>
        </p:spPr>
      </p:pic>
    </p:spTree>
    <p:extLst>
      <p:ext uri="{BB962C8B-B14F-4D97-AF65-F5344CB8AC3E}">
        <p14:creationId xmlns:p14="http://schemas.microsoft.com/office/powerpoint/2010/main" val="836211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BB53F82-F191-4EEB-AB7B-F69E634FA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1AA6B9-459C-40CF-AB6F-D5A93FDAC9B8}"/>
              </a:ext>
            </a:extLst>
          </p:cNvPr>
          <p:cNvSpPr>
            <a:spLocks noGrp="1"/>
          </p:cNvSpPr>
          <p:nvPr>
            <p:ph type="title"/>
          </p:nvPr>
        </p:nvSpPr>
        <p:spPr>
          <a:xfrm>
            <a:off x="581192" y="702156"/>
            <a:ext cx="11029616" cy="1188720"/>
          </a:xfrm>
        </p:spPr>
        <p:txBody>
          <a:bodyPr>
            <a:normAutofit/>
          </a:bodyPr>
          <a:lstStyle/>
          <a:p>
            <a:r>
              <a:rPr lang="uk-UA" dirty="0"/>
              <a:t>Кратність асоціацій</a:t>
            </a:r>
          </a:p>
        </p:txBody>
      </p:sp>
      <p:sp>
        <p:nvSpPr>
          <p:cNvPr id="11" name="Rectangle 10">
            <a:extLst>
              <a:ext uri="{FF2B5EF4-FFF2-40B4-BE49-F238E27FC236}">
                <a16:creationId xmlns:a16="http://schemas.microsoft.com/office/drawing/2014/main" id="{8616AA08-3831-473D-B61B-89484A33C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12">
            <a:extLst>
              <a:ext uri="{FF2B5EF4-FFF2-40B4-BE49-F238E27FC236}">
                <a16:creationId xmlns:a16="http://schemas.microsoft.com/office/drawing/2014/main" id="{8431B918-3A1C-46BA-9430-CAD97D9DA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14">
            <a:extLst>
              <a:ext uri="{FF2B5EF4-FFF2-40B4-BE49-F238E27FC236}">
                <a16:creationId xmlns:a16="http://schemas.microsoft.com/office/drawing/2014/main" id="{8400935A-2F82-4DC4-A4E1-E12EFB8C2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EEC24203-435B-472D-80C2-0FD569F546EC}"/>
              </a:ext>
            </a:extLst>
          </p:cNvPr>
          <p:cNvSpPr>
            <a:spLocks noGrp="1"/>
          </p:cNvSpPr>
          <p:nvPr>
            <p:ph idx="1"/>
          </p:nvPr>
        </p:nvSpPr>
        <p:spPr>
          <a:xfrm>
            <a:off x="581193" y="2180496"/>
            <a:ext cx="6917210" cy="4045683"/>
          </a:xfrm>
        </p:spPr>
        <p:txBody>
          <a:bodyPr>
            <a:normAutofit fontScale="92500" lnSpcReduction="20000"/>
          </a:bodyPr>
          <a:lstStyle/>
          <a:p>
            <a:pPr marL="0" indent="0">
              <a:buNone/>
            </a:pPr>
            <a:r>
              <a:rPr lang="ru-RU" sz="2800" dirty="0"/>
              <a:t>Кратність (</a:t>
            </a:r>
            <a:r>
              <a:rPr lang="en-US" sz="2800" dirty="0"/>
              <a:t>multiplicity) </a:t>
            </a:r>
            <a:r>
              <a:rPr lang="ru-RU" sz="2800" dirty="0"/>
              <a:t>асоціації вказується поряд з позначенням компонента діаграми, який є учасником даної асоціації. Кратність характеризує загальна кількість конкретних екземплярів даного компонента, які можуть виступати в якості елементів даної асоціації. Стосовно діаграм варіантів використання кратність має спеціальне позначення у формі однієї або декількох цифр і, можливо, спеціального символу "*" (зірочка).</a:t>
            </a:r>
          </a:p>
        </p:txBody>
      </p:sp>
      <p:sp>
        <p:nvSpPr>
          <p:cNvPr id="17" name="Rectangle 16">
            <a:extLst>
              <a:ext uri="{FF2B5EF4-FFF2-40B4-BE49-F238E27FC236}">
                <a16:creationId xmlns:a16="http://schemas.microsoft.com/office/drawing/2014/main" id="{A3D5D599-1CAE-4C92-B5AE-8E51AF6D4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6" y="2180496"/>
            <a:ext cx="3703321"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A2029DB-8E7C-4A37-B10D-36E9332F1E98}"/>
              </a:ext>
            </a:extLst>
          </p:cNvPr>
          <p:cNvPicPr>
            <a:picLocks noChangeAspect="1"/>
          </p:cNvPicPr>
          <p:nvPr/>
        </p:nvPicPr>
        <p:blipFill>
          <a:blip r:embed="rId3"/>
          <a:stretch>
            <a:fillRect/>
          </a:stretch>
        </p:blipFill>
        <p:spPr>
          <a:xfrm>
            <a:off x="8363915" y="3686882"/>
            <a:ext cx="3059782" cy="1029734"/>
          </a:xfrm>
          <a:prstGeom prst="rect">
            <a:avLst/>
          </a:prstGeom>
        </p:spPr>
      </p:pic>
    </p:spTree>
    <p:extLst>
      <p:ext uri="{BB962C8B-B14F-4D97-AF65-F5344CB8AC3E}">
        <p14:creationId xmlns:p14="http://schemas.microsoft.com/office/powerpoint/2010/main" val="1611313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BB53F82-F191-4EEB-AB7B-F69E634FA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1AA6B9-459C-40CF-AB6F-D5A93FDAC9B8}"/>
              </a:ext>
            </a:extLst>
          </p:cNvPr>
          <p:cNvSpPr>
            <a:spLocks noGrp="1"/>
          </p:cNvSpPr>
          <p:nvPr>
            <p:ph type="title"/>
          </p:nvPr>
        </p:nvSpPr>
        <p:spPr>
          <a:xfrm>
            <a:off x="581192" y="702156"/>
            <a:ext cx="11029616" cy="1188720"/>
          </a:xfrm>
        </p:spPr>
        <p:txBody>
          <a:bodyPr>
            <a:normAutofit/>
          </a:bodyPr>
          <a:lstStyle/>
          <a:p>
            <a:r>
              <a:rPr lang="uk-UA" dirty="0"/>
              <a:t>Відношення. Розширення</a:t>
            </a:r>
          </a:p>
        </p:txBody>
      </p:sp>
      <p:sp>
        <p:nvSpPr>
          <p:cNvPr id="12" name="Rectangle 11">
            <a:extLst>
              <a:ext uri="{FF2B5EF4-FFF2-40B4-BE49-F238E27FC236}">
                <a16:creationId xmlns:a16="http://schemas.microsoft.com/office/drawing/2014/main" id="{8616AA08-3831-473D-B61B-89484A33C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13">
            <a:extLst>
              <a:ext uri="{FF2B5EF4-FFF2-40B4-BE49-F238E27FC236}">
                <a16:creationId xmlns:a16="http://schemas.microsoft.com/office/drawing/2014/main" id="{8431B918-3A1C-46BA-9430-CAD97D9DA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8400935A-2F82-4DC4-A4E1-E12EFB8C2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EEC24203-435B-472D-80C2-0FD569F546EC}"/>
              </a:ext>
            </a:extLst>
          </p:cNvPr>
          <p:cNvSpPr>
            <a:spLocks noGrp="1"/>
          </p:cNvSpPr>
          <p:nvPr>
            <p:ph idx="1"/>
          </p:nvPr>
        </p:nvSpPr>
        <p:spPr>
          <a:xfrm>
            <a:off x="581193" y="2180496"/>
            <a:ext cx="6917210" cy="4045683"/>
          </a:xfrm>
        </p:spPr>
        <p:txBody>
          <a:bodyPr>
            <a:normAutofit fontScale="92500" lnSpcReduction="10000"/>
          </a:bodyPr>
          <a:lstStyle/>
          <a:p>
            <a:pPr marL="0" indent="0">
              <a:buNone/>
            </a:pPr>
            <a:r>
              <a:rPr lang="ru-RU" sz="2400" dirty="0"/>
              <a:t>Відношення </a:t>
            </a:r>
            <a:r>
              <a:rPr lang="ru-RU" sz="2400" b="1" dirty="0"/>
              <a:t>розширення</a:t>
            </a:r>
            <a:r>
              <a:rPr lang="ru-RU" sz="2400" dirty="0"/>
              <a:t> відзначає той факт, що один з варіантів використання може приєднувати до своєї поведінки деяку додаткову поведінку, певне для іншого варіанту використання. Дане відношення включає в себе деякий умова і посилання на точки розширення в базовому варіанті використання. Щоб розширення мало місце, повинно бути виконано певну умову даного відносини. Посилання на точки розширення визначають ті місця в базовому варіанті використання, в які повинне існувати відповідне розширення при виконанні умови.</a:t>
            </a:r>
          </a:p>
        </p:txBody>
      </p:sp>
      <p:sp>
        <p:nvSpPr>
          <p:cNvPr id="18" name="Rectangle 17">
            <a:extLst>
              <a:ext uri="{FF2B5EF4-FFF2-40B4-BE49-F238E27FC236}">
                <a16:creationId xmlns:a16="http://schemas.microsoft.com/office/drawing/2014/main" id="{A3D5D599-1CAE-4C92-B5AE-8E51AF6D4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6" y="2180496"/>
            <a:ext cx="3703321"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FBD1987-362E-44C6-8CD9-894360F37816}"/>
              </a:ext>
            </a:extLst>
          </p:cNvPr>
          <p:cNvPicPr>
            <a:picLocks noChangeAspect="1"/>
          </p:cNvPicPr>
          <p:nvPr/>
        </p:nvPicPr>
        <p:blipFill>
          <a:blip r:embed="rId3"/>
          <a:stretch>
            <a:fillRect/>
          </a:stretch>
        </p:blipFill>
        <p:spPr>
          <a:xfrm>
            <a:off x="8363915" y="3934019"/>
            <a:ext cx="3059782" cy="535461"/>
          </a:xfrm>
          <a:prstGeom prst="rect">
            <a:avLst/>
          </a:prstGeom>
        </p:spPr>
      </p:pic>
    </p:spTree>
    <p:extLst>
      <p:ext uri="{BB962C8B-B14F-4D97-AF65-F5344CB8AC3E}">
        <p14:creationId xmlns:p14="http://schemas.microsoft.com/office/powerpoint/2010/main" val="3065830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FBB53F82-F191-4EEB-AB7B-F69E634FA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1AA6B9-459C-40CF-AB6F-D5A93FDAC9B8}"/>
              </a:ext>
            </a:extLst>
          </p:cNvPr>
          <p:cNvSpPr>
            <a:spLocks noGrp="1"/>
          </p:cNvSpPr>
          <p:nvPr>
            <p:ph type="title"/>
          </p:nvPr>
        </p:nvSpPr>
        <p:spPr>
          <a:xfrm>
            <a:off x="581192" y="702156"/>
            <a:ext cx="11029616" cy="1188720"/>
          </a:xfrm>
        </p:spPr>
        <p:txBody>
          <a:bodyPr>
            <a:normAutofit/>
          </a:bodyPr>
          <a:lstStyle/>
          <a:p>
            <a:r>
              <a:rPr lang="uk-UA" dirty="0"/>
              <a:t>Відношення Розширення. УМОВИ (</a:t>
            </a:r>
            <a:r>
              <a:rPr lang="en-US" dirty="0"/>
              <a:t>conditions</a:t>
            </a:r>
            <a:r>
              <a:rPr lang="uk-UA" dirty="0"/>
              <a:t>)</a:t>
            </a:r>
          </a:p>
        </p:txBody>
      </p:sp>
      <p:sp>
        <p:nvSpPr>
          <p:cNvPr id="16" name="Rectangle 10">
            <a:extLst>
              <a:ext uri="{FF2B5EF4-FFF2-40B4-BE49-F238E27FC236}">
                <a16:creationId xmlns:a16="http://schemas.microsoft.com/office/drawing/2014/main" id="{8616AA08-3831-473D-B61B-89484A33C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12">
            <a:extLst>
              <a:ext uri="{FF2B5EF4-FFF2-40B4-BE49-F238E27FC236}">
                <a16:creationId xmlns:a16="http://schemas.microsoft.com/office/drawing/2014/main" id="{8431B918-3A1C-46BA-9430-CAD97D9DA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14">
            <a:extLst>
              <a:ext uri="{FF2B5EF4-FFF2-40B4-BE49-F238E27FC236}">
                <a16:creationId xmlns:a16="http://schemas.microsoft.com/office/drawing/2014/main" id="{8400935A-2F82-4DC4-A4E1-E12EFB8C2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EEC24203-435B-472D-80C2-0FD569F546EC}"/>
              </a:ext>
            </a:extLst>
          </p:cNvPr>
          <p:cNvSpPr>
            <a:spLocks noGrp="1"/>
          </p:cNvSpPr>
          <p:nvPr>
            <p:ph idx="1"/>
          </p:nvPr>
        </p:nvSpPr>
        <p:spPr>
          <a:xfrm>
            <a:off x="581193" y="2180496"/>
            <a:ext cx="6917210" cy="4045683"/>
          </a:xfrm>
        </p:spPr>
        <p:txBody>
          <a:bodyPr>
            <a:normAutofit/>
          </a:bodyPr>
          <a:lstStyle/>
          <a:p>
            <a:pPr marL="0" indent="0">
              <a:lnSpc>
                <a:spcPct val="100000"/>
              </a:lnSpc>
              <a:buNone/>
            </a:pPr>
            <a:r>
              <a:rPr lang="uk-UA" sz="1600"/>
              <a:t>Відношення</a:t>
            </a:r>
            <a:r>
              <a:rPr lang="ru-RU" sz="1600"/>
              <a:t> розширення відображає </a:t>
            </a:r>
            <a:r>
              <a:rPr lang="ru-RU" sz="1600" b="1"/>
              <a:t>можливе</a:t>
            </a:r>
            <a:r>
              <a:rPr lang="ru-RU" sz="1600"/>
              <a:t> приєднання одного варіанту використання до іншого в певній точці (точці розширення). При цьому наголошується на тому, що розширюється варіант використання лише при певних умовах і не є обов'язковим для виконання основного прецеденту.</a:t>
            </a:r>
          </a:p>
          <a:p>
            <a:pPr marL="0" indent="0">
              <a:lnSpc>
                <a:spcPct val="100000"/>
              </a:lnSpc>
              <a:buNone/>
            </a:pPr>
            <a:r>
              <a:rPr lang="ru-RU" sz="1600"/>
              <a:t>На діаграмі такий вид відносини зображується стрілкою, спрямованої до розширює прецеденту, в окремому розділі якого може бути описана точка розширення, а умови розширення можуть бути приведені в коментарі з ключовим словом </a:t>
            </a:r>
            <a:r>
              <a:rPr lang="en-US" sz="1600" b="1" i="1"/>
              <a:t>Condition</a:t>
            </a:r>
            <a:r>
              <a:rPr lang="en-US" sz="1600"/>
              <a:t>. </a:t>
            </a:r>
            <a:r>
              <a:rPr lang="ru-RU" sz="1600"/>
              <a:t>Таким чином, розширення дозволяє моделювати необов'язкову поведінку системи, яка є умовною і не змінює поведінку основного прецеденту. </a:t>
            </a:r>
          </a:p>
          <a:p>
            <a:pPr marL="0" indent="0">
              <a:lnSpc>
                <a:spcPct val="100000"/>
              </a:lnSpc>
              <a:buNone/>
            </a:pPr>
            <a:r>
              <a:rPr lang="ru-RU" sz="1600"/>
              <a:t>Наприклад, відношення розширення потрібно застосувати, якщо за технічним завданням потрібно надати можливість видалення набору завдань в прецеденті перегляду звітів за умови, що всі учні вирішили цей набір.</a:t>
            </a:r>
          </a:p>
        </p:txBody>
      </p:sp>
      <p:sp>
        <p:nvSpPr>
          <p:cNvPr id="17" name="Rectangle 16">
            <a:extLst>
              <a:ext uri="{FF2B5EF4-FFF2-40B4-BE49-F238E27FC236}">
                <a16:creationId xmlns:a16="http://schemas.microsoft.com/office/drawing/2014/main" id="{A3D5D599-1CAE-4C92-B5AE-8E51AF6D4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6" y="2180496"/>
            <a:ext cx="3703321"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82BCFE8-1B79-4273-8632-51FDE85B0323}"/>
              </a:ext>
            </a:extLst>
          </p:cNvPr>
          <p:cNvPicPr>
            <a:picLocks noChangeAspect="1"/>
          </p:cNvPicPr>
          <p:nvPr/>
        </p:nvPicPr>
        <p:blipFill>
          <a:blip r:embed="rId3"/>
          <a:stretch>
            <a:fillRect/>
          </a:stretch>
        </p:blipFill>
        <p:spPr>
          <a:xfrm>
            <a:off x="8363915" y="3058156"/>
            <a:ext cx="3059782" cy="2287187"/>
          </a:xfrm>
          <a:prstGeom prst="rect">
            <a:avLst/>
          </a:prstGeom>
        </p:spPr>
      </p:pic>
    </p:spTree>
    <p:extLst>
      <p:ext uri="{BB962C8B-B14F-4D97-AF65-F5344CB8AC3E}">
        <p14:creationId xmlns:p14="http://schemas.microsoft.com/office/powerpoint/2010/main" val="2876634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BB53F82-F191-4EEB-AB7B-F69E634FA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72E562-335B-4C52-8F75-53DA86259A3C}"/>
              </a:ext>
            </a:extLst>
          </p:cNvPr>
          <p:cNvSpPr>
            <a:spLocks noGrp="1"/>
          </p:cNvSpPr>
          <p:nvPr>
            <p:ph type="title"/>
          </p:nvPr>
        </p:nvSpPr>
        <p:spPr>
          <a:xfrm>
            <a:off x="581192" y="702156"/>
            <a:ext cx="11029616" cy="1188720"/>
          </a:xfrm>
        </p:spPr>
        <p:txBody>
          <a:bodyPr>
            <a:normAutofit/>
          </a:bodyPr>
          <a:lstStyle/>
          <a:p>
            <a:r>
              <a:rPr lang="uk-UA" dirty="0"/>
              <a:t>Відношення. Узагальнення</a:t>
            </a:r>
          </a:p>
        </p:txBody>
      </p:sp>
      <p:sp>
        <p:nvSpPr>
          <p:cNvPr id="11" name="Rectangle 10">
            <a:extLst>
              <a:ext uri="{FF2B5EF4-FFF2-40B4-BE49-F238E27FC236}">
                <a16:creationId xmlns:a16="http://schemas.microsoft.com/office/drawing/2014/main" id="{8616AA08-3831-473D-B61B-89484A33C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12">
            <a:extLst>
              <a:ext uri="{FF2B5EF4-FFF2-40B4-BE49-F238E27FC236}">
                <a16:creationId xmlns:a16="http://schemas.microsoft.com/office/drawing/2014/main" id="{8431B918-3A1C-46BA-9430-CAD97D9DA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14">
            <a:extLst>
              <a:ext uri="{FF2B5EF4-FFF2-40B4-BE49-F238E27FC236}">
                <a16:creationId xmlns:a16="http://schemas.microsoft.com/office/drawing/2014/main" id="{8400935A-2F82-4DC4-A4E1-E12EFB8C2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B40AD314-1AB3-4F99-B4F5-6B30D30C0759}"/>
              </a:ext>
            </a:extLst>
          </p:cNvPr>
          <p:cNvSpPr>
            <a:spLocks noGrp="1"/>
          </p:cNvSpPr>
          <p:nvPr>
            <p:ph idx="1"/>
          </p:nvPr>
        </p:nvSpPr>
        <p:spPr>
          <a:xfrm>
            <a:off x="581193" y="2180496"/>
            <a:ext cx="6917210" cy="4045683"/>
          </a:xfrm>
        </p:spPr>
        <p:txBody>
          <a:bodyPr>
            <a:normAutofit/>
          </a:bodyPr>
          <a:lstStyle/>
          <a:p>
            <a:pPr marL="0" indent="0">
              <a:buNone/>
            </a:pPr>
            <a:r>
              <a:rPr lang="ru-RU" sz="2400" dirty="0"/>
              <a:t>Відношення узагальнення служить для вказівки того факту, що деякий варіант використання «А» може бути узагальнено до варіанту використання «В». В цьому випадку варіант «А» буде спеціалізацією варіанту «В». При цьому «В» називається предком або батьком по відношенню «А», а варіант «А» - нащадком по відношенню до варіанту використання «В».</a:t>
            </a:r>
            <a:endParaRPr lang="uk-UA" sz="2400" dirty="0"/>
          </a:p>
        </p:txBody>
      </p:sp>
      <p:sp>
        <p:nvSpPr>
          <p:cNvPr id="17" name="Rectangle 16">
            <a:extLst>
              <a:ext uri="{FF2B5EF4-FFF2-40B4-BE49-F238E27FC236}">
                <a16:creationId xmlns:a16="http://schemas.microsoft.com/office/drawing/2014/main" id="{A3D5D599-1CAE-4C92-B5AE-8E51AF6D4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6" y="2180496"/>
            <a:ext cx="3703321"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352CCC3-F0EA-42CD-8ADC-028988273338}"/>
              </a:ext>
            </a:extLst>
          </p:cNvPr>
          <p:cNvPicPr>
            <a:picLocks noChangeAspect="1"/>
          </p:cNvPicPr>
          <p:nvPr/>
        </p:nvPicPr>
        <p:blipFill>
          <a:blip r:embed="rId2"/>
          <a:stretch>
            <a:fillRect/>
          </a:stretch>
        </p:blipFill>
        <p:spPr>
          <a:xfrm>
            <a:off x="8363915" y="3941668"/>
            <a:ext cx="3059782" cy="520162"/>
          </a:xfrm>
          <a:prstGeom prst="rect">
            <a:avLst/>
          </a:prstGeom>
        </p:spPr>
      </p:pic>
    </p:spTree>
    <p:extLst>
      <p:ext uri="{BB962C8B-B14F-4D97-AF65-F5344CB8AC3E}">
        <p14:creationId xmlns:p14="http://schemas.microsoft.com/office/powerpoint/2010/main" val="21406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2E562-335B-4C52-8F75-53DA86259A3C}"/>
              </a:ext>
            </a:extLst>
          </p:cNvPr>
          <p:cNvSpPr>
            <a:spLocks noGrp="1"/>
          </p:cNvSpPr>
          <p:nvPr>
            <p:ph type="title"/>
          </p:nvPr>
        </p:nvSpPr>
        <p:spPr>
          <a:xfrm>
            <a:off x="581192" y="702156"/>
            <a:ext cx="11029616" cy="1188720"/>
          </a:xfrm>
        </p:spPr>
        <p:txBody>
          <a:bodyPr>
            <a:normAutofit/>
          </a:bodyPr>
          <a:lstStyle/>
          <a:p>
            <a:r>
              <a:rPr lang="uk-UA" dirty="0"/>
              <a:t>Відношення. Включення</a:t>
            </a:r>
          </a:p>
        </p:txBody>
      </p:sp>
      <p:sp>
        <p:nvSpPr>
          <p:cNvPr id="3" name="Content Placeholder 2">
            <a:extLst>
              <a:ext uri="{FF2B5EF4-FFF2-40B4-BE49-F238E27FC236}">
                <a16:creationId xmlns:a16="http://schemas.microsoft.com/office/drawing/2014/main" id="{B40AD314-1AB3-4F99-B4F5-6B30D30C0759}"/>
              </a:ext>
            </a:extLst>
          </p:cNvPr>
          <p:cNvSpPr>
            <a:spLocks noGrp="1"/>
          </p:cNvSpPr>
          <p:nvPr>
            <p:ph idx="1"/>
          </p:nvPr>
        </p:nvSpPr>
        <p:spPr>
          <a:xfrm>
            <a:off x="581193" y="2180496"/>
            <a:ext cx="6917210" cy="4045683"/>
          </a:xfrm>
        </p:spPr>
        <p:txBody>
          <a:bodyPr>
            <a:normAutofit/>
          </a:bodyPr>
          <a:lstStyle/>
          <a:p>
            <a:pPr marL="0" indent="0">
              <a:buNone/>
            </a:pPr>
            <a:r>
              <a:rPr lang="ru-RU" sz="2400" dirty="0"/>
              <a:t>Відношення включення між двома варіантами використання вказує, що деяка задана поведінка для одного варіанта використання включається як складовий компонент в послідовність поведінки іншого варіанту використання.</a:t>
            </a:r>
          </a:p>
          <a:p>
            <a:pPr marL="0" indent="0">
              <a:buNone/>
            </a:pPr>
            <a:r>
              <a:rPr lang="uk-UA" sz="2400" dirty="0"/>
              <a:t>Альтернативним тлумаченням даного відношення є «обов’язковість» включення одного варіанту використання при використанні іншого варіанту використання</a:t>
            </a:r>
            <a:endParaRPr lang="ru-RU" sz="2400" dirty="0"/>
          </a:p>
        </p:txBody>
      </p:sp>
      <p:pic>
        <p:nvPicPr>
          <p:cNvPr id="10" name="Picture 9">
            <a:extLst>
              <a:ext uri="{FF2B5EF4-FFF2-40B4-BE49-F238E27FC236}">
                <a16:creationId xmlns:a16="http://schemas.microsoft.com/office/drawing/2014/main" id="{A3A0B9B9-7DBD-4FB3-AACA-C608F36DABBA}"/>
              </a:ext>
            </a:extLst>
          </p:cNvPr>
          <p:cNvPicPr>
            <a:picLocks noChangeAspect="1"/>
          </p:cNvPicPr>
          <p:nvPr/>
        </p:nvPicPr>
        <p:blipFill>
          <a:blip r:embed="rId2"/>
          <a:stretch>
            <a:fillRect/>
          </a:stretch>
        </p:blipFill>
        <p:spPr>
          <a:xfrm>
            <a:off x="8004006" y="2933631"/>
            <a:ext cx="3606801" cy="990738"/>
          </a:xfrm>
          <a:prstGeom prst="rect">
            <a:avLst/>
          </a:prstGeom>
        </p:spPr>
      </p:pic>
    </p:spTree>
    <p:extLst>
      <p:ext uri="{BB962C8B-B14F-4D97-AF65-F5344CB8AC3E}">
        <p14:creationId xmlns:p14="http://schemas.microsoft.com/office/powerpoint/2010/main" val="12627458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7BEB4-B1F7-4D82-8E29-4016C5CE4930}"/>
              </a:ext>
            </a:extLst>
          </p:cNvPr>
          <p:cNvSpPr>
            <a:spLocks noGrp="1"/>
          </p:cNvSpPr>
          <p:nvPr>
            <p:ph type="title"/>
          </p:nvPr>
        </p:nvSpPr>
        <p:spPr/>
        <p:txBody>
          <a:bodyPr/>
          <a:lstStyle/>
          <a:p>
            <a:r>
              <a:rPr lang="uk-UA" dirty="0"/>
              <a:t>Сценарії (згадуємо </a:t>
            </a:r>
            <a:r>
              <a:rPr lang="en-US" dirty="0"/>
              <a:t>BDD</a:t>
            </a:r>
            <a:r>
              <a:rPr lang="uk-UA" dirty="0"/>
              <a:t>)</a:t>
            </a:r>
          </a:p>
        </p:txBody>
      </p:sp>
      <p:sp>
        <p:nvSpPr>
          <p:cNvPr id="3" name="Content Placeholder 2">
            <a:extLst>
              <a:ext uri="{FF2B5EF4-FFF2-40B4-BE49-F238E27FC236}">
                <a16:creationId xmlns:a16="http://schemas.microsoft.com/office/drawing/2014/main" id="{9A932DDA-2E06-45AC-9B4E-38B68713523B}"/>
              </a:ext>
            </a:extLst>
          </p:cNvPr>
          <p:cNvSpPr>
            <a:spLocks noGrp="1"/>
          </p:cNvSpPr>
          <p:nvPr>
            <p:ph idx="1"/>
          </p:nvPr>
        </p:nvSpPr>
        <p:spPr/>
        <p:txBody>
          <a:bodyPr>
            <a:normAutofit/>
          </a:bodyPr>
          <a:lstStyle/>
          <a:p>
            <a:pPr marL="0" indent="0">
              <a:buNone/>
            </a:pPr>
            <a:r>
              <a:rPr lang="uk-UA" sz="2400" dirty="0"/>
              <a:t>Сценарії є дуже важливою частиною діаграм використання, хоча їх формат і не регламентований. Ряд авторів пропонує використовувати </a:t>
            </a:r>
            <a:r>
              <a:rPr lang="uk-UA" sz="2400" b="1" dirty="0"/>
              <a:t>псевдокод</a:t>
            </a:r>
            <a:r>
              <a:rPr lang="uk-UA" sz="2400" dirty="0"/>
              <a:t> для подання сценарію і навіть відразу будувати </a:t>
            </a:r>
            <a:r>
              <a:rPr lang="uk-UA" sz="2400" b="1" dirty="0"/>
              <a:t>діаграми діяльності або взаємодії</a:t>
            </a:r>
            <a:r>
              <a:rPr lang="uk-UA" sz="2400" dirty="0"/>
              <a:t>, але на мій погляд, найкращим варіантом на етапі побудови </a:t>
            </a:r>
            <a:r>
              <a:rPr lang="en-US" sz="2400" dirty="0"/>
              <a:t>use-case </a:t>
            </a:r>
            <a:r>
              <a:rPr lang="uk-UA" sz="2400" dirty="0"/>
              <a:t>діаграм є текстовий, що описує систему з точки зору користувача (тому що саме цей формат буде найбільш зрозумілий замовнику, з яким вам належить погоджувати технічне завдання).</a:t>
            </a:r>
          </a:p>
        </p:txBody>
      </p:sp>
    </p:spTree>
    <p:extLst>
      <p:ext uri="{BB962C8B-B14F-4D97-AF65-F5344CB8AC3E}">
        <p14:creationId xmlns:p14="http://schemas.microsoft.com/office/powerpoint/2010/main" val="1680779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B0169-F772-435C-B0DB-A0ED0BD8E21B}"/>
              </a:ext>
            </a:extLst>
          </p:cNvPr>
          <p:cNvSpPr>
            <a:spLocks noGrp="1"/>
          </p:cNvSpPr>
          <p:nvPr>
            <p:ph type="title"/>
          </p:nvPr>
        </p:nvSpPr>
        <p:spPr/>
        <p:txBody>
          <a:bodyPr/>
          <a:lstStyle/>
          <a:p>
            <a:r>
              <a:rPr lang="uk-UA" dirty="0"/>
              <a:t>Порядок створення</a:t>
            </a:r>
          </a:p>
        </p:txBody>
      </p:sp>
      <p:sp>
        <p:nvSpPr>
          <p:cNvPr id="3" name="Content Placeholder 2">
            <a:extLst>
              <a:ext uri="{FF2B5EF4-FFF2-40B4-BE49-F238E27FC236}">
                <a16:creationId xmlns:a16="http://schemas.microsoft.com/office/drawing/2014/main" id="{06F7B301-FC02-4F37-BF5B-F9FDAD301500}"/>
              </a:ext>
            </a:extLst>
          </p:cNvPr>
          <p:cNvSpPr>
            <a:spLocks noGrp="1"/>
          </p:cNvSpPr>
          <p:nvPr>
            <p:ph idx="1"/>
          </p:nvPr>
        </p:nvSpPr>
        <p:spPr>
          <a:xfrm>
            <a:off x="581192" y="2080727"/>
            <a:ext cx="11029615" cy="3894623"/>
          </a:xfrm>
        </p:spPr>
        <p:txBody>
          <a:bodyPr>
            <a:normAutofit fontScale="85000" lnSpcReduction="20000"/>
          </a:bodyPr>
          <a:lstStyle/>
          <a:p>
            <a:pPr marL="457200" indent="-457200">
              <a:buFont typeface="+mj-lt"/>
              <a:buAutoNum type="arabicPeriod"/>
            </a:pPr>
            <a:r>
              <a:rPr lang="ru-RU" sz="2400" dirty="0"/>
              <a:t>Виділити групи дійових осіб (які працюють з системою по-різному, часто через різні прав доступу);</a:t>
            </a:r>
          </a:p>
          <a:p>
            <a:pPr marL="457200" indent="-457200">
              <a:buFont typeface="+mj-lt"/>
              <a:buAutoNum type="arabicPeriod"/>
            </a:pPr>
            <a:r>
              <a:rPr lang="ru-RU" sz="2400" dirty="0"/>
              <a:t>Ідентифікувати якомога більше варіантів використання (процесів, які можуть виконувати користувачі). При цьому не слід ділити процеси занадто дрібно, потрібно вибирати лише ті, які дадуть користувачеві значущий результат. Наприклад, касир може «продати товар» (це буде прецедентом), проте «введення штрих-коду товару для отримання ціни» самостійним прецедентом не є;</a:t>
            </a:r>
          </a:p>
          <a:p>
            <a:pPr marL="457200" indent="-457200">
              <a:buFont typeface="+mj-lt"/>
              <a:buAutoNum type="arabicPeriod"/>
            </a:pPr>
            <a:r>
              <a:rPr lang="ru-RU" sz="2400" dirty="0"/>
              <a:t>Доповнити прецеденти словесним описом (сценарієм):</a:t>
            </a:r>
          </a:p>
          <a:p>
            <a:pPr marL="781200" lvl="1" indent="-457200">
              <a:buFont typeface="+mj-lt"/>
              <a:buAutoNum type="arabicPeriod"/>
            </a:pPr>
            <a:r>
              <a:rPr lang="ru-RU" sz="2100" dirty="0"/>
              <a:t>для кожного прецеденту створити розділи: «головна послідовність» і «альтернативні послідовності»;</a:t>
            </a:r>
          </a:p>
          <a:p>
            <a:pPr marL="781200" lvl="1" indent="-457200">
              <a:buFont typeface="+mj-lt"/>
              <a:buAutoNum type="arabicPeriod"/>
            </a:pPr>
            <a:r>
              <a:rPr lang="ru-RU" sz="2100" dirty="0"/>
              <a:t>при складанні сценарію потрібно наполегливо ставити замовнику питання «що відбувається?», «що далі?», «що ще може відбуватися?» і записувати відповіді на них.</a:t>
            </a:r>
          </a:p>
          <a:p>
            <a:pPr marL="457200" indent="-457200">
              <a:buFont typeface="+mj-lt"/>
              <a:buAutoNum type="arabicPeriod"/>
            </a:pPr>
            <a:r>
              <a:rPr lang="ru-RU" sz="2400" dirty="0"/>
              <a:t>Задати відношення між прецедентами</a:t>
            </a:r>
            <a:endParaRPr lang="uk-UA" sz="2400" dirty="0"/>
          </a:p>
        </p:txBody>
      </p:sp>
    </p:spTree>
    <p:extLst>
      <p:ext uri="{BB962C8B-B14F-4D97-AF65-F5344CB8AC3E}">
        <p14:creationId xmlns:p14="http://schemas.microsoft.com/office/powerpoint/2010/main" val="23899469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B0169-F772-435C-B0DB-A0ED0BD8E21B}"/>
              </a:ext>
            </a:extLst>
          </p:cNvPr>
          <p:cNvSpPr>
            <a:spLocks noGrp="1"/>
          </p:cNvSpPr>
          <p:nvPr>
            <p:ph type="title"/>
          </p:nvPr>
        </p:nvSpPr>
        <p:spPr/>
        <p:txBody>
          <a:bodyPr/>
          <a:lstStyle/>
          <a:p>
            <a:r>
              <a:rPr lang="uk-UA" dirty="0"/>
              <a:t>Побудова діаграми. Порядок створення</a:t>
            </a:r>
          </a:p>
        </p:txBody>
      </p:sp>
      <p:sp>
        <p:nvSpPr>
          <p:cNvPr id="3" name="Content Placeholder 2">
            <a:extLst>
              <a:ext uri="{FF2B5EF4-FFF2-40B4-BE49-F238E27FC236}">
                <a16:creationId xmlns:a16="http://schemas.microsoft.com/office/drawing/2014/main" id="{06F7B301-FC02-4F37-BF5B-F9FDAD301500}"/>
              </a:ext>
            </a:extLst>
          </p:cNvPr>
          <p:cNvSpPr>
            <a:spLocks noGrp="1"/>
          </p:cNvSpPr>
          <p:nvPr>
            <p:ph idx="1"/>
          </p:nvPr>
        </p:nvSpPr>
        <p:spPr>
          <a:xfrm>
            <a:off x="581192" y="2080727"/>
            <a:ext cx="11029615" cy="4479099"/>
          </a:xfrm>
        </p:spPr>
        <p:txBody>
          <a:bodyPr>
            <a:normAutofit fontScale="92500" lnSpcReduction="10000"/>
          </a:bodyPr>
          <a:lstStyle/>
          <a:p>
            <a:pPr marL="457200" indent="-457200">
              <a:buFont typeface="+mj-lt"/>
              <a:buAutoNum type="arabicPeriod"/>
            </a:pPr>
            <a:r>
              <a:rPr lang="ru-RU" sz="2400" dirty="0"/>
              <a:t>Виділити групи дійових осіб (які працюють з системою по-різному, часто через різні прав доступу);</a:t>
            </a:r>
          </a:p>
          <a:p>
            <a:pPr marL="457200" indent="-457200">
              <a:buFont typeface="+mj-lt"/>
              <a:buAutoNum type="arabicPeriod"/>
            </a:pPr>
            <a:r>
              <a:rPr lang="ru-RU" sz="2400" dirty="0"/>
              <a:t>Ідентифікувати якомога більше варіантів використання (процесів, які можуть виконувати користувачі). При цьому не слід ділити процеси занадто дрібно, потрібно вибирати лише ті, які дадуть користувачеві значущий результат. Наприклад, касир може «продати товар» (це буде прецедентом), проте «введення штрих-коду товару для отримання ціни» самостійним прецедентом не є;</a:t>
            </a:r>
          </a:p>
          <a:p>
            <a:pPr marL="457200" indent="-457200">
              <a:buFont typeface="+mj-lt"/>
              <a:buAutoNum type="arabicPeriod"/>
            </a:pPr>
            <a:r>
              <a:rPr lang="ru-RU" sz="2400" dirty="0"/>
              <a:t>Доповнити прецеденти словесним описом (сценарієм):</a:t>
            </a:r>
          </a:p>
          <a:p>
            <a:pPr marL="781200" lvl="1" indent="-457200">
              <a:buFont typeface="+mj-lt"/>
              <a:buAutoNum type="arabicPeriod"/>
            </a:pPr>
            <a:r>
              <a:rPr lang="ru-RU" sz="2100" dirty="0"/>
              <a:t>для кожного прецеденту створити розділи: «головна послідовність» і «альтернативні послідовності»;</a:t>
            </a:r>
          </a:p>
          <a:p>
            <a:pPr marL="781200" lvl="1" indent="-457200">
              <a:buFont typeface="+mj-lt"/>
              <a:buAutoNum type="arabicPeriod"/>
            </a:pPr>
            <a:r>
              <a:rPr lang="ru-RU" sz="2100" dirty="0"/>
              <a:t>при складанні сценарію потрібно наполегливо ставити замовнику питання «що відбувається?», «що далі?», «що ще може відбуватися?» і записувати відповіді на них.</a:t>
            </a:r>
          </a:p>
          <a:p>
            <a:pPr marL="457200" indent="-457200">
              <a:buFont typeface="+mj-lt"/>
              <a:buAutoNum type="arabicPeriod"/>
            </a:pPr>
            <a:endParaRPr lang="uk-UA" sz="2400" dirty="0"/>
          </a:p>
        </p:txBody>
      </p:sp>
    </p:spTree>
    <p:extLst>
      <p:ext uri="{BB962C8B-B14F-4D97-AF65-F5344CB8AC3E}">
        <p14:creationId xmlns:p14="http://schemas.microsoft.com/office/powerpoint/2010/main" val="1499206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610CC-E248-44F0-A23F-61C8D12867FD}"/>
              </a:ext>
            </a:extLst>
          </p:cNvPr>
          <p:cNvSpPr>
            <a:spLocks noGrp="1"/>
          </p:cNvSpPr>
          <p:nvPr>
            <p:ph type="title"/>
          </p:nvPr>
        </p:nvSpPr>
        <p:spPr/>
        <p:txBody>
          <a:bodyPr/>
          <a:lstStyle/>
          <a:p>
            <a:r>
              <a:rPr lang="uk-UA" dirty="0"/>
              <a:t>Рекомендація</a:t>
            </a:r>
          </a:p>
        </p:txBody>
      </p:sp>
      <p:sp>
        <p:nvSpPr>
          <p:cNvPr id="3" name="Content Placeholder 2">
            <a:extLst>
              <a:ext uri="{FF2B5EF4-FFF2-40B4-BE49-F238E27FC236}">
                <a16:creationId xmlns:a16="http://schemas.microsoft.com/office/drawing/2014/main" id="{072B459A-D71D-4131-92F9-F2D31F644420}"/>
              </a:ext>
            </a:extLst>
          </p:cNvPr>
          <p:cNvSpPr>
            <a:spLocks noGrp="1"/>
          </p:cNvSpPr>
          <p:nvPr>
            <p:ph idx="1"/>
          </p:nvPr>
        </p:nvSpPr>
        <p:spPr/>
        <p:txBody>
          <a:bodyPr>
            <a:normAutofit/>
          </a:bodyPr>
          <a:lstStyle/>
          <a:p>
            <a:pPr marL="0" indent="0" fontAlgn="base">
              <a:buNone/>
            </a:pPr>
            <a:r>
              <a:rPr lang="ru-RU" dirty="0"/>
              <a:t>Найтиповішими помилками при побудові цього виду діаграм є:</a:t>
            </a:r>
          </a:p>
          <a:p>
            <a:pPr marL="342900" indent="-342900" fontAlgn="base">
              <a:buFont typeface="+mj-lt"/>
              <a:buAutoNum type="arabicPeriod"/>
            </a:pPr>
            <a:r>
              <a:rPr lang="ru-RU" dirty="0"/>
              <a:t>неправильне використання відносин розширення і включення, в тому числі спроби використовувати діаграми для функціональної декомпозиції системи. Виникає через нерозуміння відмінностей між цими двома видами відносин і того, що </a:t>
            </a:r>
            <a:r>
              <a:rPr lang="en-US" dirty="0"/>
              <a:t>use-case </a:t>
            </a:r>
            <a:r>
              <a:rPr lang="ru-RU" dirty="0">
                <a:solidFill>
                  <a:srgbClr val="FF0000"/>
                </a:solidFill>
              </a:rPr>
              <a:t>діаграма повинна виражати лише вимоги до системи, а не деталі її реалізації</a:t>
            </a:r>
            <a:r>
              <a:rPr lang="ru-RU" dirty="0"/>
              <a:t>;</a:t>
            </a:r>
          </a:p>
          <a:p>
            <a:pPr marL="342900" indent="-342900" fontAlgn="base">
              <a:buFont typeface="+mj-lt"/>
              <a:buAutoNum type="arabicPeriod"/>
            </a:pPr>
            <a:r>
              <a:rPr lang="ru-RU" dirty="0"/>
              <a:t>розробка діаграми з точки зору програміста, а не користувача. У сценаріях </a:t>
            </a:r>
            <a:r>
              <a:rPr lang="ru-RU" dirty="0">
                <a:solidFill>
                  <a:srgbClr val="FF0000"/>
                </a:solidFill>
              </a:rPr>
              <a:t>повинні</a:t>
            </a:r>
            <a:r>
              <a:rPr lang="ru-RU" dirty="0"/>
              <a:t> використовуватися назви елементів управління (видимі користувачеві), але </a:t>
            </a:r>
            <a:r>
              <a:rPr lang="ru-RU" dirty="0">
                <a:solidFill>
                  <a:srgbClr val="FF0000"/>
                </a:solidFill>
              </a:rPr>
              <a:t>небажано</a:t>
            </a:r>
            <a:r>
              <a:rPr lang="ru-RU" dirty="0"/>
              <a:t> зображати деталі реалізації, які не зрозумілі замовнику;</a:t>
            </a:r>
          </a:p>
          <a:p>
            <a:pPr marL="342900" indent="-342900" fontAlgn="base">
              <a:buFont typeface="+mj-lt"/>
              <a:buAutoNum type="arabicPeriod"/>
            </a:pPr>
            <a:r>
              <a:rPr lang="ru-RU" dirty="0"/>
              <a:t>Слабке опрацювання сценаріїв:</a:t>
            </a:r>
          </a:p>
          <a:p>
            <a:pPr lvl="1" fontAlgn="base"/>
            <a:r>
              <a:rPr lang="ru-RU" dirty="0"/>
              <a:t>відсутність або недостатня кількість альтернативних послідовностей, в яких нелбхідно було враховати, в тому числі, введення некоректних даних в систему;</a:t>
            </a:r>
          </a:p>
          <a:p>
            <a:pPr lvl="1" fontAlgn="base"/>
            <a:r>
              <a:rPr lang="ru-RU" dirty="0"/>
              <a:t>опис дій користувача без вказівки конкретних елементів інтерфейсу системи і відсутність описів реакції системи в сценаріях.</a:t>
            </a:r>
            <a:endParaRPr lang="uk-UA" dirty="0"/>
          </a:p>
        </p:txBody>
      </p:sp>
    </p:spTree>
    <p:extLst>
      <p:ext uri="{BB962C8B-B14F-4D97-AF65-F5344CB8AC3E}">
        <p14:creationId xmlns:p14="http://schemas.microsoft.com/office/powerpoint/2010/main" val="1256758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610CC-E248-44F0-A23F-61C8D12867FD}"/>
              </a:ext>
            </a:extLst>
          </p:cNvPr>
          <p:cNvSpPr>
            <a:spLocks noGrp="1"/>
          </p:cNvSpPr>
          <p:nvPr>
            <p:ph type="title"/>
          </p:nvPr>
        </p:nvSpPr>
        <p:spPr/>
        <p:txBody>
          <a:bodyPr/>
          <a:lstStyle/>
          <a:p>
            <a:r>
              <a:rPr lang="uk-UA" dirty="0"/>
              <a:t>Постскриптум</a:t>
            </a:r>
          </a:p>
        </p:txBody>
      </p:sp>
      <p:sp>
        <p:nvSpPr>
          <p:cNvPr id="3" name="Content Placeholder 2">
            <a:extLst>
              <a:ext uri="{FF2B5EF4-FFF2-40B4-BE49-F238E27FC236}">
                <a16:creationId xmlns:a16="http://schemas.microsoft.com/office/drawing/2014/main" id="{072B459A-D71D-4131-92F9-F2D31F644420}"/>
              </a:ext>
            </a:extLst>
          </p:cNvPr>
          <p:cNvSpPr>
            <a:spLocks noGrp="1"/>
          </p:cNvSpPr>
          <p:nvPr>
            <p:ph idx="1"/>
          </p:nvPr>
        </p:nvSpPr>
        <p:spPr/>
        <p:txBody>
          <a:bodyPr>
            <a:normAutofit fontScale="92500" lnSpcReduction="10000"/>
          </a:bodyPr>
          <a:lstStyle/>
          <a:p>
            <a:pPr marL="0" indent="0" fontAlgn="base">
              <a:buNone/>
            </a:pPr>
            <a:r>
              <a:rPr lang="uk-UA" sz="2800" dirty="0"/>
              <a:t>Варіантів використання </a:t>
            </a:r>
            <a:r>
              <a:rPr lang="en-US" sz="2800" dirty="0"/>
              <a:t>Use-Case </a:t>
            </a:r>
            <a:r>
              <a:rPr lang="uk-UA" sz="2800" dirty="0"/>
              <a:t>діаграми існує стільки, скільки людей її використовують. Не існує загальних правил її побудови, існує лише безліч рекомендацій.</a:t>
            </a:r>
          </a:p>
          <a:p>
            <a:pPr marL="0" indent="0" fontAlgn="base">
              <a:buNone/>
            </a:pPr>
            <a:r>
              <a:rPr lang="uk-UA" sz="2800" dirty="0"/>
              <a:t>Але не варто забувати що дана діаграма демонструється замовнику проекту. Тому варто враховувати те, що вона є ілюстрацією технічного завдання проекту з точки зору замовника. І будується саме для того, щоб </a:t>
            </a:r>
            <a:r>
              <a:rPr lang="uk-UA" sz="2800" dirty="0" err="1"/>
              <a:t>нашвидкоруч</a:t>
            </a:r>
            <a:r>
              <a:rPr lang="uk-UA" sz="2800" dirty="0"/>
              <a:t> продемонструвати «що вміє ваш проект», а не «як саме він працює».</a:t>
            </a:r>
          </a:p>
        </p:txBody>
      </p:sp>
    </p:spTree>
    <p:extLst>
      <p:ext uri="{BB962C8B-B14F-4D97-AF65-F5344CB8AC3E}">
        <p14:creationId xmlns:p14="http://schemas.microsoft.com/office/powerpoint/2010/main" val="3199943347"/>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2796</Words>
  <Application>Microsoft Office PowerPoint</Application>
  <PresentationFormat>Широкий екран</PresentationFormat>
  <Paragraphs>124</Paragraphs>
  <Slides>19</Slides>
  <Notes>9</Notes>
  <HiddenSlides>0</HiddenSlides>
  <MMClips>0</MMClips>
  <ScaleCrop>false</ScaleCrop>
  <HeadingPairs>
    <vt:vector size="4" baseType="variant">
      <vt:variant>
        <vt:lpstr>Тема</vt:lpstr>
      </vt:variant>
      <vt:variant>
        <vt:i4>1</vt:i4>
      </vt:variant>
      <vt:variant>
        <vt:lpstr>Заголовки слайдів</vt:lpstr>
      </vt:variant>
      <vt:variant>
        <vt:i4>19</vt:i4>
      </vt:variant>
    </vt:vector>
  </HeadingPairs>
  <TitlesOfParts>
    <vt:vector size="20" baseType="lpstr">
      <vt:lpstr>DividendVTI</vt:lpstr>
      <vt:lpstr>Основи UML</vt:lpstr>
      <vt:lpstr>призначення</vt:lpstr>
      <vt:lpstr>Діаграма прецедентів. Use caSe. діаграма варіантів використання</vt:lpstr>
      <vt:lpstr>Актор</vt:lpstr>
      <vt:lpstr>прецеденти</vt:lpstr>
      <vt:lpstr>Границя системи</vt:lpstr>
      <vt:lpstr>Інтерфейси</vt:lpstr>
      <vt:lpstr>Примітки</vt:lpstr>
      <vt:lpstr>Відношення. Асоціація</vt:lpstr>
      <vt:lpstr>Кратність асоціацій</vt:lpstr>
      <vt:lpstr>Відношення. Розширення</vt:lpstr>
      <vt:lpstr>Відношення Розширення. УМОВИ (conditions)</vt:lpstr>
      <vt:lpstr>Відношення. Узагальнення</vt:lpstr>
      <vt:lpstr>Відношення. Включення</vt:lpstr>
      <vt:lpstr>Сценарії (згадуємо BDD)</vt:lpstr>
      <vt:lpstr>Порядок створення</vt:lpstr>
      <vt:lpstr>Побудова діаграми. Порядок створення</vt:lpstr>
      <vt:lpstr>Рекомендація</vt:lpstr>
      <vt:lpstr>Постскриптум</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cp:revision>
  <dcterms:created xsi:type="dcterms:W3CDTF">2020-04-21T07:41:26Z</dcterms:created>
  <dcterms:modified xsi:type="dcterms:W3CDTF">2025-09-08T10:32:09Z</dcterms:modified>
</cp:coreProperties>
</file>