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12" r:id="rId4"/>
  </p:sldMasterIdLst>
  <p:notesMasterIdLst>
    <p:notesMasterId r:id="rId21"/>
  </p:notesMasterIdLst>
  <p:sldIdLst>
    <p:sldId id="257" r:id="rId5"/>
    <p:sldId id="261" r:id="rId6"/>
    <p:sldId id="259" r:id="rId7"/>
    <p:sldId id="264" r:id="rId8"/>
    <p:sldId id="265" r:id="rId9"/>
    <p:sldId id="260" r:id="rId10"/>
    <p:sldId id="266" r:id="rId11"/>
    <p:sldId id="267" r:id="rId12"/>
    <p:sldId id="276" r:id="rId13"/>
    <p:sldId id="277" r:id="rId14"/>
    <p:sldId id="278" r:id="rId15"/>
    <p:sldId id="282" r:id="rId16"/>
    <p:sldId id="269" r:id="rId17"/>
    <p:sldId id="279" r:id="rId18"/>
    <p:sldId id="286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256" autoAdjust="0"/>
  </p:normalViewPr>
  <p:slideViewPr>
    <p:cSldViewPr snapToGrid="0">
      <p:cViewPr varScale="1">
        <p:scale>
          <a:sx n="94" d="100"/>
          <a:sy n="94" d="100"/>
        </p:scale>
        <p:origin x="4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2BDF8-B98B-4DAD-9DE8-2ADB0615790A}" type="datetimeFigureOut">
              <a:rPr lang="uk-UA" smtClean="0"/>
              <a:t>08.09.2025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4661-125B-46EB-8EC6-BAD081C7C1B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269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927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2813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4875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6729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2664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1803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Синхронне повідомлення - актор-відправник передає хід управління актору-одержувачу, якому необхідно провести в прецеденті деяку дію. Поки що проводиться актором-одержувачем дія не буде завершено (відповідно, не буде отримано відповідь було надіслане), актор-відправник втрачає можливість здійснювати будь-які дії. Графічно зображується як стрілка з зафарбовані трикутником, після якої йде прямокутник, що відображає діяльність об'єкта, в кінці якого знаходиться відповідне повідомлення.</a:t>
            </a:r>
          </a:p>
          <a:p>
            <a:r>
              <a:rPr lang="ru-RU" sz="1200" dirty="0"/>
              <a:t>У відповідь Повідомлень - дане повідомлення є відповіддю на синхронне повідомлення. Зазвичай, містить якесь повертається споконвічного актору-відправнику значення, також повертає йому управління (можливість діяти).</a:t>
            </a:r>
          </a:p>
          <a:p>
            <a:r>
              <a:rPr lang="ru-RU" sz="1200" dirty="0"/>
              <a:t>Асинхронне повідомлення - актор-відправник передає хід управління актору-одержувачу, якому необхідно провести в прецеденті деяку дію. Основна відмінність від синхронного повідомлення полягає в тому, що актор-відправник не втрачає можливості здійснювати інші дії.</a:t>
            </a:r>
          </a:p>
          <a:p>
            <a:r>
              <a:rPr lang="ru-RU" sz="1200" dirty="0"/>
              <a:t>Втрачене повідомлення - повідомлення без адресата (є відправник, ні одержувача).</a:t>
            </a:r>
          </a:p>
          <a:p>
            <a:r>
              <a:rPr lang="ru-RU" sz="1200" dirty="0"/>
              <a:t>Знайдене повідомлення - повідомлення без відправника.</a:t>
            </a:r>
          </a:p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5142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77202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9056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0456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C4661-125B-46EB-8EC6-BAD081C7C1BE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031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ru-RU" dirty="0"/>
              <a:t>Основи UML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uk-UA" dirty="0"/>
              <a:t>Діаграма послідовності (</a:t>
            </a:r>
            <a:r>
              <a:rPr lang="en-US" i="1" dirty="0"/>
              <a:t>sequence diagram</a:t>
            </a:r>
            <a:r>
              <a:rPr lang="uk-UA" dirty="0"/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5EF0-8BCC-4E8E-9C23-331A9003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призначення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0E54F-6067-40F4-A944-57EA5C66D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Діаграма послідовності — відображає взаємодії об'єктів впорядкованих за часом. Зокрема, такі діаграми відображають задіяні об'єкти та послідовність відправлених повідомлень.</a:t>
            </a:r>
          </a:p>
          <a:p>
            <a:r>
              <a:rPr lang="uk-UA" dirty="0"/>
              <a:t>Діаграма послідовностей відображає часові особливості передачі і прийому повідомлень об'єктами.</a:t>
            </a:r>
          </a:p>
          <a:p>
            <a:r>
              <a:rPr lang="uk-UA" dirty="0"/>
              <a:t>Діаграми послідовностей можна використовувати для уточнення діаграм прецедентів, більш детального опису логіки сценаріїв використання. Це відмінний засіб документування проекту з точки зору сценаріїв використання.</a:t>
            </a:r>
          </a:p>
          <a:p>
            <a:r>
              <a:rPr lang="uk-UA" dirty="0"/>
              <a:t>Дана діаграма графічно демонструє порядок взаємодії певних об’єктів програми у часі. Як правило, в цій діаграмі демонструється, як користувачі (актори з діаграми варіантів використання) взаємодіють з іншими компонентами програми під час реалізації тих чи інших варіантів використання програми, та як при цьому взаємодіють інші компоненти програмної системи.  Зазвичай, одна діаграма послідовності присвячена опису одного з варіантів використання, зазначеного у </a:t>
            </a:r>
            <a:r>
              <a:rPr lang="en-US" dirty="0"/>
              <a:t>Use-case </a:t>
            </a:r>
            <a:r>
              <a:rPr lang="uk-UA" dirty="0"/>
              <a:t>діаграмі.  </a:t>
            </a:r>
          </a:p>
        </p:txBody>
      </p:sp>
    </p:spTree>
    <p:extLst>
      <p:ext uri="{BB962C8B-B14F-4D97-AF65-F5344CB8AC3E}">
        <p14:creationId xmlns:p14="http://schemas.microsoft.com/office/powerpoint/2010/main" val="29705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DBD19-2EDD-420C-B0E2-17B5FAC5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uk-UA" sz="2600">
                <a:solidFill>
                  <a:srgbClr val="FFFFFF"/>
                </a:solidFill>
              </a:rPr>
              <a:t>Діаграма послідовності</a:t>
            </a:r>
            <a:r>
              <a:rPr lang="en-US" sz="2600">
                <a:solidFill>
                  <a:srgbClr val="FFFFFF"/>
                </a:solidFill>
                <a:latin typeface="Corbel" panose="020B0503020204020204" pitchFamily="34" charset="0"/>
              </a:rPr>
              <a:t>. sequence diagram.</a:t>
            </a:r>
            <a:endParaRPr lang="uk-UA" sz="260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2855-C047-4C73-8EDE-C8878A6C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uk-UA" dirty="0"/>
              <a:t>об’єкти сценарію</a:t>
            </a:r>
          </a:p>
          <a:p>
            <a:pPr>
              <a:lnSpc>
                <a:spcPct val="100000"/>
              </a:lnSpc>
            </a:pPr>
            <a:r>
              <a:rPr lang="uk-UA" dirty="0"/>
              <a:t>час</a:t>
            </a:r>
          </a:p>
          <a:p>
            <a:pPr>
              <a:lnSpc>
                <a:spcPct val="100000"/>
              </a:lnSpc>
            </a:pPr>
            <a:r>
              <a:rPr lang="uk-UA" dirty="0"/>
              <a:t>лінія життя</a:t>
            </a:r>
          </a:p>
          <a:p>
            <a:pPr>
              <a:lnSpc>
                <a:spcPct val="100000"/>
              </a:lnSpc>
            </a:pPr>
            <a:r>
              <a:rPr lang="uk-UA" dirty="0"/>
              <a:t>ініційовані екземпляри об’єктів. Фокус управління</a:t>
            </a:r>
          </a:p>
          <a:p>
            <a:pPr>
              <a:lnSpc>
                <a:spcPct val="100000"/>
              </a:lnSpc>
            </a:pPr>
            <a:r>
              <a:rPr lang="uk-UA" dirty="0"/>
              <a:t>символом руйнування життя 🙃</a:t>
            </a:r>
          </a:p>
          <a:p>
            <a:pPr>
              <a:lnSpc>
                <a:spcPct val="100000"/>
              </a:lnSpc>
            </a:pPr>
            <a:r>
              <a:rPr lang="uk-UA" dirty="0"/>
              <a:t>повідомлення</a:t>
            </a:r>
          </a:p>
          <a:p>
            <a:pPr>
              <a:lnSpc>
                <a:spcPct val="100000"/>
              </a:lnSpc>
            </a:pPr>
            <a:r>
              <a:rPr lang="uk-UA" dirty="0"/>
              <a:t>розгалуження</a:t>
            </a:r>
          </a:p>
          <a:p>
            <a:pPr>
              <a:lnSpc>
                <a:spcPct val="100000"/>
              </a:lnSpc>
            </a:pPr>
            <a:r>
              <a:rPr lang="uk-UA" dirty="0"/>
              <a:t>цикли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0AD79-43B1-4ED6-B8F5-F0DDF9E3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231" y="1020728"/>
            <a:ext cx="6831503" cy="479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35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A1F0C-004D-4CD4-9D5D-CCE67D84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об’єкти сценарію та Актори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7F997-F1F6-40FE-B4D4-FD7B456B2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uk-UA" sz="1400" dirty="0"/>
              <a:t>Актор є будь-яку зовнішню по відношенню до модельованої системі сутність, яка взаємодіє з системою і використовує її функціональні можливості для досягнення певної мети або вирішення приватних завдань. </a:t>
            </a:r>
          </a:p>
          <a:p>
            <a:pPr marL="0" indent="0">
              <a:lnSpc>
                <a:spcPct val="100000"/>
              </a:lnSpc>
              <a:buNone/>
            </a:pPr>
            <a:endParaRPr lang="uk-UA" sz="1400" dirty="0"/>
          </a:p>
          <a:p>
            <a:pPr marL="0" indent="0">
              <a:lnSpc>
                <a:spcPct val="100000"/>
              </a:lnSpc>
              <a:buNone/>
            </a:pPr>
            <a:r>
              <a:rPr lang="uk-UA" sz="1400" b="1" dirty="0"/>
              <a:t>Приклади</a:t>
            </a:r>
            <a:r>
              <a:rPr lang="uk-UA" sz="1400" dirty="0"/>
              <a:t>: клієнт банку, банківський службовець, продавець магазину, водій автомобіля, стільниковий телефон, </a:t>
            </a:r>
            <a:r>
              <a:rPr lang="en-US" sz="1400" dirty="0" err="1"/>
              <a:t>etc</a:t>
            </a:r>
            <a:r>
              <a:rPr lang="uk-UA" sz="1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uk-UA" sz="1400" dirty="0"/>
          </a:p>
          <a:p>
            <a:pPr marL="0" indent="0">
              <a:lnSpc>
                <a:spcPct val="100000"/>
              </a:lnSpc>
              <a:buNone/>
            </a:pPr>
            <a:r>
              <a:rPr lang="uk-UA" sz="1400" dirty="0"/>
              <a:t>Об’єкти системи – компоненти системи що моделюється, які приймають участь при реалізації варіантів використання</a:t>
            </a:r>
          </a:p>
          <a:p>
            <a:pPr marL="0" indent="0">
              <a:lnSpc>
                <a:spcPct val="100000"/>
              </a:lnSpc>
              <a:buNone/>
            </a:pPr>
            <a:endParaRPr lang="uk-UA" sz="1400" dirty="0"/>
          </a:p>
          <a:p>
            <a:pPr marL="0" indent="0">
              <a:lnSpc>
                <a:spcPct val="100000"/>
              </a:lnSpc>
              <a:buNone/>
            </a:pPr>
            <a:endParaRPr lang="uk-UA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A518D8-294E-4FE8-875A-05DF26DB7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51" y="3419787"/>
            <a:ext cx="5275001" cy="149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1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4B42A-90D6-435A-B2A4-51B4C196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Час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6083-1D58-421D-B87D-3AD30B419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17210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Вертикальний вимір діаграми відповідає осі часу, плин часу вважається вподовж осі зверху донизу і має відносний характер: відстань на осі часу не має відповідності інтервалу реального часу, розташування вподовж осі часу показує лише послідовність подій.</a:t>
            </a:r>
          </a:p>
          <a:p>
            <a:pPr marL="0" indent="0">
              <a:buNone/>
            </a:pPr>
            <a:r>
              <a:rPr lang="uk-UA" dirty="0"/>
              <a:t>Ліворуч від осі зовнішнього інтерфейсу може наводитися перелік дій, які відбуваються в сценарії за відповідний період часу</a:t>
            </a:r>
            <a:endParaRPr lang="uk-UA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630CE-50E0-42BE-B8C1-02EC5ED4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227" y="2499053"/>
            <a:ext cx="1047158" cy="340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0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8D2B4922-7602-46A0-9EEB-1F737C65F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14E36-AAD1-4ECE-B8CA-71760852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uk-UA" dirty="0"/>
              <a:t>Лінія життя</a:t>
            </a:r>
            <a:endParaRPr lang="en-US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70450C2-785F-4B9A-ADCF-A3081A1C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616FE08-2FA4-454F-8805-C2B340EE8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D6FD8DB-BEB0-487A-910E-E4D3E89D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7F0B04F-9887-478F-B1F0-5B28D467D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20DD8-0821-41CA-A367-BE729AB99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74" y="2593032"/>
            <a:ext cx="1190609" cy="3424472"/>
          </a:xfrm>
          <a:prstGeom prst="rect">
            <a:avLst/>
          </a:prstGeom>
        </p:spPr>
      </p:pic>
      <p:pic>
        <p:nvPicPr>
          <p:cNvPr id="1026" name="Picture 2" descr="Ось як правильно читати всі головні лінії на долоні ...">
            <a:extLst>
              <a:ext uri="{FF2B5EF4-FFF2-40B4-BE49-F238E27FC236}">
                <a16:creationId xmlns:a16="http://schemas.microsoft.com/office/drawing/2014/main" id="{B496635C-7A99-4CBC-A42B-57294C0646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932" y="2181229"/>
            <a:ext cx="5258435" cy="404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80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0BE6F-AA0E-46C4-9944-20B618B4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ініційовані екземпляри об’єктів. Фокус управління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694D-D4C6-4C53-A8DC-95F35D1E1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17210" cy="4045683"/>
          </a:xfrm>
        </p:spPr>
        <p:txBody>
          <a:bodyPr>
            <a:normAutofit/>
          </a:bodyPr>
          <a:lstStyle/>
          <a:p>
            <a:r>
              <a:rPr lang="uk-UA" dirty="0"/>
              <a:t>Ініційовані екземпляри об’єктів, поведінка яких забезпечує зазначені дії, </a:t>
            </a:r>
            <a:r>
              <a:rPr lang="uk-UA" dirty="0" err="1"/>
              <a:t>зображаються</a:t>
            </a:r>
            <a:r>
              <a:rPr lang="uk-UA" dirty="0"/>
              <a:t> на відповідних лініях життя подовженими прямокутниками. Довжина прямокутника відповідає інтервалу активності екземпляра об’єкта (тобто часу виконання його операцій). Отже, діаграма послідовності відображає потоки керування.</a:t>
            </a:r>
          </a:p>
          <a:p>
            <a:r>
              <a:rPr lang="uk-UA" dirty="0"/>
              <a:t>Якщо екземпляр об’єкта існував до старту діаграми, перша стрілка, яка веде до об’єкта, проводиться нижче верхівки його лінії життя.</a:t>
            </a:r>
          </a:p>
          <a:p>
            <a:r>
              <a:rPr lang="uk-UA" dirty="0"/>
              <a:t>Якщо об’єкт створюється в певний момент часу, стрілка, яка відповідає повідомленню про його створення, спрямовується до верхівки його лінії життя.</a:t>
            </a:r>
          </a:p>
          <a:p>
            <a:endParaRPr lang="uk-UA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A0B32-9579-4B10-895C-737D0150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915" y="2624542"/>
            <a:ext cx="3059782" cy="315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4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6F7B3-1C63-473F-B314-D20CC4A6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символ руйнування життя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A25FE-AD43-4D03-B4C6-451FF5059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411" y="2499053"/>
            <a:ext cx="3615314" cy="34053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DBFA0-F52F-41A4-8563-4A9B7AF2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ru-RU" dirty="0"/>
              <a:t>Якщо екземпляр об’єкта руйнується, нижня межа його лінії життя позначається перехрестям як символом руйнування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2000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A6B9-459C-40CF-AB6F-D5A93FDA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68801"/>
          </a:xfrm>
        </p:spPr>
        <p:txBody>
          <a:bodyPr>
            <a:normAutofit/>
          </a:bodyPr>
          <a:lstStyle/>
          <a:p>
            <a:r>
              <a:rPr lang="uk-UA" dirty="0"/>
              <a:t>повідомлення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4203-435B-472D-80C2-0FD569F5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8945"/>
            <a:ext cx="3272351" cy="4488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Всього існує 5 видів стрілок:</a:t>
            </a:r>
          </a:p>
          <a:p>
            <a:r>
              <a:rPr lang="ru-RU" dirty="0"/>
              <a:t>Синхронне повідомлення (а)</a:t>
            </a:r>
          </a:p>
          <a:p>
            <a:r>
              <a:rPr lang="ru-RU" dirty="0"/>
              <a:t>Асинхронне повідомлення (б)</a:t>
            </a:r>
          </a:p>
          <a:p>
            <a:r>
              <a:rPr lang="ru-RU" dirty="0"/>
              <a:t>Повідомлення-відповідь (в)</a:t>
            </a:r>
          </a:p>
          <a:p>
            <a:r>
              <a:rPr lang="ru-RU" dirty="0"/>
              <a:t>Рефлексивне повідомлення</a:t>
            </a:r>
          </a:p>
          <a:p>
            <a:r>
              <a:rPr lang="ru-RU" dirty="0"/>
              <a:t>Втрачене повідомлення - повідомлення без адресата</a:t>
            </a:r>
          </a:p>
          <a:p>
            <a:r>
              <a:rPr lang="ru-RU" dirty="0"/>
              <a:t>Знайдене повідомлення - повідомлення без відправника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54D7CB-0C91-49BA-BDC8-628D4E04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5433" y="1892371"/>
            <a:ext cx="3680469" cy="220396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5139A322-B2C3-4505-9BD7-EA5320149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690" y="2335166"/>
            <a:ext cx="3020259" cy="13183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7AA1860-70B6-4D74-8E50-89C5CFA4E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598" y="4186861"/>
            <a:ext cx="3680469" cy="221020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1DD5D0-C2DC-4B53-8399-FE7CAF45E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690" y="4630098"/>
            <a:ext cx="3043534" cy="13285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34FA9EC-3E4B-41A6-9164-6C10794D7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493" y="1892370"/>
            <a:ext cx="3699935" cy="450469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9F5B7B5E-FB74-49C0-A8C9-4AC5598C4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531" y="3391904"/>
            <a:ext cx="3033384" cy="152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1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AA6B9-459C-40CF-AB6F-D5A93FDA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Повідомлення. Синхронне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579C5-6FF9-41E0-A732-0DDB247DB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98" y="2652473"/>
            <a:ext cx="4748741" cy="30985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4203-435B-472D-80C2-0FD569F5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Синхронні повідомлення припиняють потік виконання до тих пір, поки не буде отримана відповідь.</a:t>
            </a:r>
          </a:p>
        </p:txBody>
      </p:sp>
    </p:spTree>
    <p:extLst>
      <p:ext uri="{BB962C8B-B14F-4D97-AF65-F5344CB8AC3E}">
        <p14:creationId xmlns:p14="http://schemas.microsoft.com/office/powerpoint/2010/main" val="1611313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AA6B9-459C-40CF-AB6F-D5A93FDA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Повідомлення. Відповідь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4203-435B-472D-80C2-0FD569F5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17210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Використовується для повернення з виклику процедури. Прикладом може служити просте повідомлення про завершення обчислень без надання результату розрахунків об'єкту-клієнта. </a:t>
            </a:r>
          </a:p>
          <a:p>
            <a:pPr marL="0" indent="0">
              <a:buNone/>
            </a:pPr>
            <a:r>
              <a:rPr lang="ru-RU" dirty="0"/>
              <a:t>У процедурних потоках управління ця стрілка може бути опущена, оскільки її наявність неявно передбачається в кінці активізації об'єкта. </a:t>
            </a:r>
          </a:p>
          <a:p>
            <a:pPr marL="0" indent="0">
              <a:buNone/>
            </a:pPr>
            <a:r>
              <a:rPr lang="ru-RU" dirty="0"/>
              <a:t>В той самий час вважається, що кожен виклик процедури має свою пару - повернення виклику. Для непроцедурних потоків управління, включаючи паралельні і асинхронні повідомлення, стрілка повернення повинна </a:t>
            </a:r>
            <a:r>
              <a:rPr lang="ru-RU" b="1" dirty="0">
                <a:solidFill>
                  <a:srgbClr val="FF0000"/>
                </a:solidFill>
              </a:rPr>
              <a:t>вказуватися явно</a:t>
            </a:r>
            <a:r>
              <a:rPr lang="ru-RU" dirty="0"/>
              <a:t>.</a:t>
            </a:r>
            <a:endParaRPr lang="ru-RU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CC81C-05A3-4220-91CA-C1B4B84F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488" y="2593032"/>
            <a:ext cx="3124636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30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AA6B9-459C-40CF-AB6F-D5A93FDA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Повідомлення. асинхронні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4203-435B-472D-80C2-0FD569F5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800" dirty="0"/>
              <a:t>Асинхронні повідомлення не чекають відповіді, не зупиняють потік виконання - відразу після їх посилки відбувається негайний перехід до наступного кроку, і послідовність триває.</a:t>
            </a:r>
            <a:endParaRPr lang="ru-RU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321A7-AECF-49D7-ABA0-6F9DBC89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692" y="2569571"/>
            <a:ext cx="3086531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34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2E562-335B-4C52-8F75-53DA8625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Повідомлення. РЕФЛЕКСИВНІ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D314-1AB3-4F99-B4F5-6B30D30C0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17210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Пам'ятайте, що таке рефлексія? Правильно, самоспоглядання! Тут, в принципі, відбувається щось подібне: об'єкт посилає повідомлення самому собі. Так малюють, якщо потрібно показати дію, яка виконується самим об'єктом (або всередині нього), або те, що об’ект сам себе вводить в деякий стан</a:t>
            </a:r>
            <a:endParaRPr lang="uk-UA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5F95C-0216-4DE4-B722-072EB2D9B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915" y="3092578"/>
            <a:ext cx="3059782" cy="22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1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2E562-335B-4C52-8F75-53DA8625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Галуження</a:t>
            </a:r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07B14-3A56-46AD-8D3E-28AA4FAE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98" y="2794935"/>
            <a:ext cx="4748741" cy="28136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D314-1AB3-4F99-B4F5-6B30D30C0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Одна з особливостей діаграми послідовності - можливість візуалізувати просте розгалуження процесу. Для зображення розгалуження використовуються дві або більше стрілки, що виходять з однієї точки фокусу управління. При цьому поряд з кожною з них має бути явно вказано відповідна умова гілки в формі булевского вираження.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Кількість гілок може бути довільною, однак наявність розгалужень може істотно ускладнити інтерпретацію діаграми послідовності. Пропозиція-умова має бути явно вказано для кожної гілки і записується в формі звичайного тексту, псевдокоду або виразу мови програмування. Цей вислів завжди має повертати деякий булевское вираз. Запис цих умов повинна виключати одночасну передачу альтернативних повідомлень за двома і більше гілок. В іншому випадку на діаграмі послідовності може виникнути конфлікт розгалуження.</a:t>
            </a:r>
          </a:p>
        </p:txBody>
      </p:sp>
    </p:spTree>
    <p:extLst>
      <p:ext uri="{BB962C8B-B14F-4D97-AF65-F5344CB8AC3E}">
        <p14:creationId xmlns:p14="http://schemas.microsoft.com/office/powerpoint/2010/main" val="126274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2E562-335B-4C52-8F75-53DA8625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Галуження. Продовження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D314-1AB3-4F99-B4F5-6B30D30C0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17210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Ще одним способом візуалізації галужень є блоки з піддіаграмами.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1800" dirty="0"/>
              <a:t>Втім, розгалуження - конструкція для діаграм послідовностей непопулярна і використовується вона в них дуже рідко. Вважається, що розгалуження більш притаманні діаграм діяльностей.</a:t>
            </a:r>
            <a:endParaRPr lang="ru-RU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Showing multiple booleans in sequence diagram - Stack Overflow">
            <a:extLst>
              <a:ext uri="{FF2B5EF4-FFF2-40B4-BE49-F238E27FC236}">
                <a16:creationId xmlns:a16="http://schemas.microsoft.com/office/drawing/2014/main" id="{3878D327-B33F-4869-9E4C-5B3F29817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" r="11228"/>
          <a:stretch/>
        </p:blipFill>
        <p:spPr bwMode="auto">
          <a:xfrm>
            <a:off x="8363915" y="3082597"/>
            <a:ext cx="3059782" cy="223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19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BEB4-B1F7-4D82-8E29-4016C5CE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uk-UA" dirty="0"/>
              <a:t>Цикли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A4CA679-3546-4E14-8FB8-F57168C3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4D16E90-7C64-4C04-A50A-B866A1A9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BE4DD59-5AA2-46C6-B6A8-9B4C62D1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60CE81C-67DC-489E-BFFB-877C8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Loop scoping in Sequence diagrams UML - Stack Overflow">
            <a:extLst>
              <a:ext uri="{FF2B5EF4-FFF2-40B4-BE49-F238E27FC236}">
                <a16:creationId xmlns:a16="http://schemas.microsoft.com/office/drawing/2014/main" id="{E0017856-595B-404E-BAB7-F4C245298F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" r="15901" b="1"/>
          <a:stretch/>
        </p:blipFill>
        <p:spPr bwMode="auto">
          <a:xfrm>
            <a:off x="611392" y="2347105"/>
            <a:ext cx="5074920" cy="371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32DDA-2E06-45AC-9B4E-38B687135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830" y="2340864"/>
            <a:ext cx="5269977" cy="3634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Цикли схожі на галуження</a:t>
            </a:r>
          </a:p>
        </p:txBody>
      </p:sp>
    </p:spTree>
    <p:extLst>
      <p:ext uri="{BB962C8B-B14F-4D97-AF65-F5344CB8AC3E}">
        <p14:creationId xmlns:p14="http://schemas.microsoft.com/office/powerpoint/2010/main" val="16807791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Microsoft Office PowerPoint</Application>
  <PresentationFormat>Широкий екран</PresentationFormat>
  <Paragraphs>75</Paragraphs>
  <Slides>16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17" baseType="lpstr">
      <vt:lpstr>DividendVTI</vt:lpstr>
      <vt:lpstr>Основи UML</vt:lpstr>
      <vt:lpstr>призначення</vt:lpstr>
      <vt:lpstr>Діаграма послідовності. sequence diagram.</vt:lpstr>
      <vt:lpstr>об’єкти сценарію та Актори</vt:lpstr>
      <vt:lpstr>Час</vt:lpstr>
      <vt:lpstr>Лінія життя</vt:lpstr>
      <vt:lpstr>ініційовані екземпляри об’єктів. Фокус управління</vt:lpstr>
      <vt:lpstr>символ руйнування життя</vt:lpstr>
      <vt:lpstr>повідомлення</vt:lpstr>
      <vt:lpstr>Повідомлення. Синхронне</vt:lpstr>
      <vt:lpstr>Повідомлення. Відповідь</vt:lpstr>
      <vt:lpstr>Повідомлення. асинхронні</vt:lpstr>
      <vt:lpstr>Повідомлення. РЕФЛЕКСИВНІ</vt:lpstr>
      <vt:lpstr>Галуження</vt:lpstr>
      <vt:lpstr>Галуження. Продовження</vt:lpstr>
      <vt:lpstr>Цикли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2020-04-28T05:28:12Z</dcterms:created>
  <dcterms:modified xsi:type="dcterms:W3CDTF">2025-09-08T10:31:53Z</dcterms:modified>
</cp:coreProperties>
</file>